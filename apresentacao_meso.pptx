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&amp; TUTORIAL DIDÁTICO (00:00 - 01:30):</a:t>
            </a:r>
          </a:p>
          <a:p>
            <a:r>
              <a:t>Bom dia à banca examinadora, ao Professor Reinaldo Haas e aos colegas presentes.</a:t>
            </a:r>
          </a:p>
          <a:p>
            <a:r>
              <a:t>Hoje apresento o seminário de Meteorologia de Mesoescala, concebido como um tutorial metodológico para a análise e diagnóstico de convecção profunda.</a:t>
            </a:r>
          </a:p>
          <a:p/>
          <a:p>
            <a:r>
              <a:t>Conforme a diretriz da disciplina FSC7116, cada aluno deve selecionar obrigatoriamente três radiossondagens atmosféricas reais representando três estados fundamentais: uma atmosfera Estável, uma atmosfera Neutra (ou de transição) e uma atmosfera Instável (tempo severo).</a:t>
            </a:r>
          </a:p>
          <a:p>
            <a:r>
              <a:t>Essas sondagens podem ser escolhidas em datas diferentes na mesma estação — como fizemos aqui para Porto Alegre (SBPA - 83971) em dezembro de 1995 — ou em estações e regiões geográficas diferentes (por exemplo, comparando simultaneamente SBPA, SBFL e SBCT).</a:t>
            </a:r>
          </a:p>
          <a:p/>
          <a:p>
            <a:r>
              <a:t>Nossa apresentação contempla três sondagens e três análises físicas aprofundadas, fundamentadas no clássico 'Atmospheric Convection' de Kerry Emanuel (1994), nas rotinas wyoming.f do MIT OCW 12.811 e na biblioteca científica MetPy.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(01:30 - 03:00):</a:t>
            </a:r>
          </a:p>
          <a:p>
            <a:r>
              <a:t>Passando para a configuração sinótica que sustentou este caso no dia 24 de dezembro de 1995 às 12Z.</a:t>
            </a:r>
          </a:p>
          <a:p>
            <a:r>
              <a:t>À esquerda, temos os mapas sinóticos gerados com a biblioteca Cartopy, incorporando a cartografia real da América do Sul com as divisões de continentes, fronteiras de países (Brasil, Argentina, Uruguai, Paraguai) e divisões estaduais (RS, SC, PR).</a:t>
            </a:r>
          </a:p>
          <a:p>
            <a:r>
              <a:t>Essa divisão geográfica é essencial para visualizar como os Andes canalizam os escoamentos na baixa e média troposfera.</a:t>
            </a:r>
          </a:p>
          <a:p/>
          <a:p>
            <a:r>
              <a:t>Em 500 hPa, observamos um cavado de onda curta bem estruturado sobre a Argentina, estabelecendo uma forte difluência de mesoescala sobre o Rio Grande do Sul. Pela teoria Quase-Geostrófica, a advecção de vorticidade ciclônica relativa positiva (CVA ou PVA) força movimentos verticais ascendentes de grande escala (ômega negativo), reduzindo as pressões e enfraquecendo a estabilidade.</a:t>
            </a:r>
          </a:p>
          <a:p/>
          <a:p>
            <a:r>
              <a:t>Simultaneamente, em 850 hPa, identificamos a atuação clássica do Jato em Baixos Níveis da América do Sul (JBN), fluindo ao longo da borda leste dos Andes. O JBN atinge velocidades superiores a 23 m/s (44 nós) em 925/850 hPa, bombeando uma língua de altíssima temperatura potencial equivalente (θe &gt; 355 K) direto da bacia Amazônica e do Chaco para o RS.</a:t>
            </a:r>
          </a:p>
          <a:p>
            <a:r>
              <a:t>Esse acoplamento vertical — suporte dinâmico em altitude e advecção quente/úmida em baixos níveis — prepara o ambiente para a convecção explosiva.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(03:00 - 05:00):</a:t>
            </a:r>
          </a:p>
          <a:p>
            <a:r>
              <a:t>Entrando no bloco das Três Sondagens e Três Análises Físicas, conforme solicitado para a apresentação.</a:t>
            </a:r>
          </a:p>
          <a:p>
            <a:r>
              <a:t>No painel à esquerda, exibimos lado a lado as radiossondagens de Porto Alegre com Skew-T, hodógrafo e métricas diagnósticas.</a:t>
            </a:r>
          </a:p>
          <a:p/>
          <a:p>
            <a:r>
              <a:t>ANÁLISE 1 (Atmosfera Estável - 12/12/1995 12Z):</a:t>
            </a:r>
          </a:p>
          <a:p>
            <a:r>
              <a:t>Este caso representa a atmosfera sob regime pós-frontal dominada por uma massa de ar frio e crista anticiclônica migratória. Notem a enorme separação entre a temperatura e o ponto de orvalho em médios níveis. O ar descendente (subsidência) aquece adiabaticamente e seca a coluna, impedindo a formação de nuvens convectivas.</a:t>
            </a:r>
          </a:p>
          <a:p>
            <a:r>
              <a:t>O MUCAPE é estritamente zero; a frequência de Brunt-Väisälä N² é positiva em toda a troposfera, caracterizando estabilidade estática profunda. Não há suporte termodinâmico para nenhuma convecção.</a:t>
            </a:r>
          </a:p>
          <a:p/>
          <a:p>
            <a:r>
              <a:t>ANÁLISE 2 (Atmosfera Neutra / Transição - 23/12/1995 12Z):</a:t>
            </a:r>
          </a:p>
          <a:p>
            <a:r>
              <a:t>Onze dias depois, a sinótica muda: o anticiclone migra para o mar e ventos de quadrante norte começam a injetar umidade na camada limite. A razão de mistura sobe para 19.4 g/kg e o SBCAPE atinge 2.762 J/kg com PW de 57 mm.</a:t>
            </a:r>
          </a:p>
          <a:p>
            <a:r>
              <a:t>No entanto, este ambiente é marginalmente neutro/transicional: não há forçamento dinâmico em 500 hPa e o cisalhamento vertical 0-6 km é fraco (apenas 10.2 m/s, com SRH de 81 m²/s²). O hodógrafo é quase linear e curto. Portanto, embora exista energia potencial, falta organização dinâmica, impedindo tempestades severas.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(05:00 - 07:00):</a:t>
            </a:r>
          </a:p>
          <a:p>
            <a:r>
              <a:t>Avançando para a ANÁLISE 3 (Atmosfera Instável Severa - 24/12/1995 12Z) e o confronto dos três casos na Matriz Comparativa.</a:t>
            </a:r>
          </a:p>
          <a:p>
            <a:r>
              <a:t>No gráfico Skew-T à esquerda, gerado rigorosamente com o código do Google Colab do Prof. Reinaldo Haas, vemos o perfil termodinâmico explosivo de Porto Alegre.</a:t>
            </a:r>
          </a:p>
          <a:p>
            <a:r>
              <a:t>A parcela de 925 hPa apresenta temperatura de 30°C com ponto de orvalho de 25°C e razão de mistura de 22 g/kg!</a:t>
            </a:r>
          </a:p>
          <a:p>
            <a:r>
              <a:t>O MUCAPE atinge 4.645 J/kg com inibição de convecção insignificante (-6.5 J/kg). O LCL é extremamente baixo (600 metros) e o LFC ocorre imediatamente. Pela condição de instabilidade potencial, temos dθe/dz fortemente negativo até 650 hPa.</a:t>
            </a:r>
          </a:p>
          <a:p/>
          <a:p>
            <a:r>
              <a:t>Na Matriz Comparativa Tríplice que estruturamos para os alunos:</a:t>
            </a:r>
          </a:p>
          <a:p>
            <a:r>
              <a:t>- No dia 12 (Estável): MUCAPE é 0 J/kg, ar seco, subsidência.</a:t>
            </a:r>
          </a:p>
          <a:p>
            <a:r>
              <a:t>- No dia 23 (Neutro): MUCAPE é 2.762 J/kg, mas o cisalhamento vertical é fraco (10.2 m/s) e não há forçamento em 500 hPa.</a:t>
            </a:r>
          </a:p>
          <a:p>
            <a:r>
              <a:t>- No dia 24 (Instável Severo): MUCAPE salta para 4.645 J/kg, acompanhado de cisalhamento profundo de 28.7 m/s e SRH de 245 m²/s².</a:t>
            </a:r>
          </a:p>
          <a:p>
            <a:r>
              <a:t>Essa comparação tríplice ilustra com clareza a física da convecção severa: não basta ter apenas CAPE moderado; é a convergência do JBN, o rompimento da tampa de inversão e o cisalhamento rotatório que determinam o evento severo.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(07:00 - 10:00):</a:t>
            </a:r>
          </a:p>
          <a:p>
            <a:r>
              <a:t>Este slide é de primordial importância para a banca, pois conecta nosso estudo diretamente com o arcabouço teórico de Kerry Emanuel (1994), 'Atmospheric Convection', e o material do curso MIT OCW 12.811.</a:t>
            </a:r>
          </a:p>
          <a:p>
            <a:r>
              <a:t>À esquerda, temos os gráficos 2D gerados pelo tcon.py / wyoming.py para as TRÊS radiossondagens simultaneamente.</a:t>
            </a:r>
          </a:p>
          <a:p>
            <a:r>
              <a:t>A linha superior mostra a ascensão Reversível (temperatura de densidade Tρ com retenção de condensado), enquanto a linha inferior mostra a ascensão Pseudoadiabática (temperatura virtual Tv com precipitação instantânea).</a:t>
            </a:r>
          </a:p>
          <a:p/>
          <a:p>
            <a:r>
              <a:t>Notem o contraste perfeito entre os três regimes:</a:t>
            </a:r>
          </a:p>
          <a:p>
            <a:r>
              <a:t>1. No caso Estável (12/12), a matriz inteira é dominada por cores azuis (anomalia negativa). Qualquer parcela deslocada é mais fria e mais densa que o ambiente, retornando ao equilíbrio.</a:t>
            </a:r>
          </a:p>
          <a:p>
            <a:r>
              <a:t>2. No caso Neutro (23/12), surge uma camada rasa de flutuabilidade positiva moderada perto da superfície, com o CAPE caindo pela metade no modo reversível (de 2536 para 1266 J/kg).</a:t>
            </a:r>
          </a:p>
          <a:p>
            <a:r>
              <a:t>3. No caso Instável Severo (24/12), vemos um núcleo violento de cores quentes (vermelho escuro) estendendo-se de 950 até 400 hPa, com anomalia térmica superior a +10 K!</a:t>
            </a:r>
          </a:p>
          <a:p>
            <a:r>
              <a:t>Para a parcela de 925 hPa (JBN), o PA pseudoadiabático atinge 7.781 J/kg, mas o reversível cai para 6.247 J/kg. A diferença de 1.534 J/kg (-19.7%) é o freio exercido pelo peso dos hidrometeoros retidos (water loading), essencial para não superestimar a corrente ascendente.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(10:00 - 12:00):</a:t>
            </a:r>
          </a:p>
          <a:p>
            <a:r>
              <a:t>Neste slide, confrontamos os perfis verticais calculados no Google Colab via MetPy para as TRÊS radiossondagens simultaneamente, revelando a assinatura termodinâmica de cada regime.</a:t>
            </a:r>
          </a:p>
          <a:p>
            <a:r>
              <a:t>No Painel 1, observem o perfil de temperatura potencial equivalente (θe):</a:t>
            </a:r>
          </a:p>
          <a:p>
            <a:r>
              <a:t>- A curva azul (12/12) reflete a massa de ar pós-frontal estável, com θe de apenas 324 K.</a:t>
            </a:r>
          </a:p>
          <a:p>
            <a:r>
              <a:t>- A curva amarela (23/12) mostra o ar tropical retornando, com θe em 354 K.</a:t>
            </a:r>
          </a:p>
          <a:p>
            <a:r>
              <a:t>- A curva vermelha (24/12) é impressionante: o JBN injeta um pulso de θe de 377.8 K em 925 hPa, criando um fortíssimo decaimento com a altitude (∂θe/∂z &lt; 0). Isso define formalmente a Instabilidade Convectiva Potencial extrema.</a:t>
            </a:r>
          </a:p>
          <a:p/>
          <a:p>
            <a:r>
              <a:t>No Painel 2, temos a Frequência de Brunt-Väisälä (N).</a:t>
            </a:r>
          </a:p>
          <a:p>
            <a:r>
              <a:t>Vejam como no caso severo de 24/12 surge um pico acentuado de N exatamente em 925 hPa. Esse pico marca a famosa inversão térmica conhecida como 'Capping Lid' (a tampa da camada limite).</a:t>
            </a:r>
          </a:p>
          <a:p>
            <a:r>
              <a:t>Como explicado por Kerry Emanuel no Capítulo 2, o Capping Lid é indispensável para surtos de supercélulas: ele impede que a energia seja liberada prematuramente pela manhã, permitindo que a camada limite acumule vapor e calor até explodir violentamente à tarde.</a:t>
            </a:r>
          </a:p>
          <a:p/>
          <a:p>
            <a:r>
              <a:t>Nos Painéis 3 e 4, a estabilidade estática S e a razão de mistura r confirmam o quadro: no dia 24/12, a razão de mistura atingiu 22.0 g/kg no nível do Jato, um valor excepcional para latitudes subtropicais.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(12:00 - 14:00):</a:t>
            </a:r>
          </a:p>
          <a:p>
            <a:r>
              <a:t>Continuando o diagnóstico do Capítulo 2, examinamos o conteúdo de vapor d'água e o risco de correntes descendentes violentas.</a:t>
            </a:r>
          </a:p>
          <a:p>
            <a:r>
              <a:t>A razão de mistura de vapor d'água (r) medida em Porto Alegre atinge impressionantes 22.0 g/kg no nível de 925 hPa! Esse valor é extraordinário para latitudes subtropicais e atesta a eficiência do JBN em bombear umidade pura da Amazônia.</a:t>
            </a:r>
          </a:p>
          <a:p>
            <a:r>
              <a:t>A integral de umidade na coluna fornece uma Água Precipitável (PW) de 52.4 mm, situando-se no percentil 95 superior para o clima do Rio Grande do Sul.</a:t>
            </a:r>
          </a:p>
          <a:p/>
          <a:p>
            <a:r>
              <a:t>Mas o aspecto mais perigoso desta sondagem está na camada de ar mais seco localizada em médios níveis (~650 hPa).</a:t>
            </a:r>
          </a:p>
          <a:p>
            <a:r>
              <a:t>Quando a chuva intensa cai através dessa camada de ar insaturado, a evaporação parcial das gotas retira calor latente do ar, resfriando bruscamente a parcela. A parcela torna-se muito mais densa que a vizinhança e despenca em direção à superfície acelerada pela gravidade.</a:t>
            </a:r>
          </a:p>
          <a:p>
            <a:r>
              <a:t>O código wyoming.f de Kerry Emanuel calculou o Downdraft CAPE (DCAPE) deste perfil em 1.149 J/kg!</a:t>
            </a:r>
          </a:p>
          <a:p>
            <a:r>
              <a:t>Aplicando a equação da energia cinética descendente, obtemos uma velocidade de queda teórica de 47.9 m/s, correspondendo a ventos de até 172 km/h quando esse bolsão de ar atinge o solo e se espalha radialmente. Esse é o mecanismo físico gerador de microbursts e frentes de rajada destruidoras em tempestades severas.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(14:00 - 17:00):</a:t>
            </a:r>
          </a:p>
          <a:p>
            <a:r>
              <a:t>Entramos no bloco crucial de cinemática e dinâmica do vento.</a:t>
            </a:r>
          </a:p>
          <a:p>
            <a:r>
              <a:t>O gráfico à esquerda é o Hodógrafo Polar detalhado da sondagem de Porto Alegre.</a:t>
            </a:r>
          </a:p>
          <a:p>
            <a:r>
              <a:t>Cada ponto representa a ponta do vetor vento horizontal em diferentes altitudes, colorido por camadas de 0-1 km (vermelho), 1-3 km (verde), 3-6 km (azul) e alta troposfera (roxo).</a:t>
            </a:r>
          </a:p>
          <a:p/>
          <a:p>
            <a:r>
              <a:t>Dois aspectos saltam aos olhos:</a:t>
            </a:r>
          </a:p>
          <a:p>
            <a:r>
              <a:t>Primeiro, a presença evidente do Jato em Baixos Níveis (JBN) em 925 hPa, com vento atingindo 44 nós (23.2 m/s). Esse jato gera um semicírculo pronunciado no hodógrafo nos primeiros 1.500 metros.</a:t>
            </a:r>
          </a:p>
          <a:p>
            <a:r>
              <a:t>No Hemisfério Sul, essa curvatura com giro horário do vento com a altura produz vorticidade horizontal puramente paralela ao escoamento relativo (vorticidade streamwise). Quando o ar entra na corrente ascendente, essa vorticidade horizontal é inclinada (tilting) para a vertical, gerando um mesociclone giratório sustentado!</a:t>
            </a:r>
          </a:p>
          <a:p/>
          <a:p>
            <a:r>
              <a:t>Segundo, o cisalhamento vertical profundo de 0 a 6 km atinge 28.7 m/s (quase 56 nós).</a:t>
            </a:r>
          </a:p>
          <a:p>
            <a:r>
              <a:t>A literatura clássica (Markowski &amp; Richardson, 2010; Doswell, 2001) estabelece que cisalhamentos 0-6 km superiores a 20 m/s são a condição sine qua non para o desenvolvimento de Supercélulas.</a:t>
            </a:r>
          </a:p>
          <a:p>
            <a:r>
              <a:t>O cisalhamento profundo inclina a coluna convectiva, fazendo com que a chuva e o granizo caiam fora da corrente ascendente, permitindo que a tempestade se auto-sustente por horas sem ser sufocada pela própria precipitação.</a:t>
            </a:r>
          </a:p>
          <a:p>
            <a:r>
              <a:t>Com SRH 0-3 km de 245 m²/s² e Bulk Richardson Number de 34, a cinemática confirma um ambiente clássico para tempestades supercelulares.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(17:00 - 18:30):</a:t>
            </a:r>
          </a:p>
          <a:p>
            <a:r>
              <a:t>Apresentamos agora a comprovação observacional por satélite meteorológico para o dia 24 de dezembro de 1995.</a:t>
            </a:r>
          </a:p>
          <a:p>
            <a:r>
              <a:t>Utilizamos os dados do sensor de infravermelho de 11 micrômetros do satélite GOES-8, processados a partir do Climate Data Record ISCCP-H da NOAA, cobrindo o Sul do Brasil e a Bacia do Prata.</a:t>
            </a:r>
          </a:p>
          <a:p/>
          <a:p>
            <a:r>
              <a:t>No Painel A, correspondente às 12:00 UTC (9 da manhã no horário local), exatamente no momento do lançamento da nossa radiossondagem em Porto Alegre, observamos a nebulosidade associada à frente fria e ao canal de umidade do JBN. Os topos convectivos mais frios já atingiam cerca de -59°C sobre o oeste e sul do Rio Grande do Sul, enquanto a região metropolitana de Porto Alegre ainda acumulava calor sob a tampa de inversão térmica.</a:t>
            </a:r>
          </a:p>
          <a:p/>
          <a:p>
            <a:r>
              <a:t>No Painel B, às 18:00 UTC (3 da tarde, horário local), testemunhamos o ápice da atividade convectiva explosiva. Com o aquecimento superficial e a advecção forçada, o capping lid foi superado, e a energia disponível de mais de 4.600 J/kg de CAPE foi liberada violentamente.</a:t>
            </a:r>
          </a:p>
          <a:p>
            <a:r>
              <a:t>A imagem infravermelha realçada revela topos penetrantes ultrapassando -63°C no nível de 160 hPa, estruturando um intenso Complexo Convectivo de Mesoescala.</a:t>
            </a:r>
          </a:p>
          <a:p>
            <a:r>
              <a:t>Foi essa configuração de tempestades severas supercelulares de alta precipitação que desencadeou a histórica Enchente de Natal de 1995 no Sul do Brasil, provocando acumulados pluviométricos extremos em Santa Catarina e no leste gaúcho.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ROTEIRO DO ORADOR (18:30 - 20:00):</a:t>
            </a:r>
          </a:p>
          <a:p>
            <a:r>
              <a:t>Chegamos à conclusão do nosso seminário com a síntese quantitativa que resume com precisão a magnitude do evento.</a:t>
            </a:r>
          </a:p>
          <a:p>
            <a:r>
              <a:t>À esquerda, a tabela consolida os indicadores diagnosticados:</a:t>
            </a:r>
          </a:p>
          <a:p>
            <a:r>
              <a:t>- O ambiente contava com flutuabilidade extrema (MUCAPE de 4.645 J/kg) e inibição virtualmente nula (-6.5 J/kg).</a:t>
            </a:r>
          </a:p>
          <a:p>
            <a:r>
              <a:t>- O modelo reversível de Emanuel (1994) evidenciou que a retenção de condensado (water loading) atenua o CAPE em 340 J/kg, mas ainda sustenta 3.832 J/kg.</a:t>
            </a:r>
          </a:p>
          <a:p>
            <a:r>
              <a:t>- O DCAPE de 1.149 J/kg conferiu potencial para correntes descendentes de até 48 m/s (172 km/h).</a:t>
            </a:r>
          </a:p>
          <a:p>
            <a:r>
              <a:t>- O JBN em 925 hPa com 44 nós forneceu o influxo massivo de umidade (r = 22 g/kg, PW = 52.4 mm) e estabeleceu a curvatura do hodógrafo que garantiu uma Helicidade Relativa de 245 m²/s² e Cisalhamento 0-6 km de 28.7 m/s, favorecendo o desenvolvimento de uma Supercélula de Alta Precipitação (HP) com rajadas destrutivas.</a:t>
            </a:r>
          </a:p>
          <a:p/>
          <a:p>
            <a:r>
              <a:t>Agradeço sinceramente ao Professor Reinaldo Haas e aos ilustres membros da banca examinadora.</a:t>
            </a:r>
          </a:p>
          <a:p>
            <a:r>
              <a:t>Encerro a apresentação rigorosamente no tempo regulamentar de 20 minutos e coloco-me à inteira disposição para responder às perguntas da arguição. Muito obrigado!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32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UFSC  |  DEPARTAMENTO DE FÍSICA / CFM  |  FSC7116 METEOROLOGIA DE MESOESCALA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960120"/>
            <a:ext cx="10360152" cy="960120"/>
          </a:xfrm>
          <a:prstGeom prst="roundRect">
            <a:avLst/>
          </a:prstGeom>
          <a:solidFill>
            <a:srgbClr val="182646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024128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BBF24"/>
                </a:solidFill>
              </a:defRPr>
            </a:pPr>
            <a:r>
              <a:t>📖 TUTORIAL &amp; DIRETRIZ DIDÁTICA OBRIGATÓRIA PARA OS ALUNOS (PROF. REINALDO HAAS):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Cada aluno ou grupo DEVE selecionar OBRIGATORIAMENTE TRÊS RADIOSSONDAGENS REAIS DISTINTAS contemplando os 3 estados atmosféricos:</a:t>
            </a:r>
            <a:br/>
            <a:r>
              <a:t>1) Atmosfera ESTÁVEL   |   2) Atmosfera NEUTRA (ou Transição)   |   3) Atmosfera INSTÁVEL (Convecção Severa)</a:t>
            </a:r>
            <a:br/>
            <a:r>
              <a:t>As sondagens podem diferir em DATAS na mesma localidade OU em LUGARES DIFERENTES (ex: SBPA, SBFL, SBCT, Argentina, etc.).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Diagnóstico Termodinâmico e Dinâmico</a:t>
            </a:r>
            <a:br/>
            <a:r>
              <a:t>de Tempestade Severa em Mesoescala</a:t>
            </a:r>
          </a:p>
          <a:p>
            <a:pPr>
              <a:spcBef>
                <a:spcPts val="400"/>
              </a:spcBef>
              <a:defRPr sz="1500">
                <a:solidFill>
                  <a:srgbClr val="38BDF8"/>
                </a:solidFill>
              </a:defRPr>
            </a:pPr>
            <a:r>
              <a:t>Aplicação Metodológica: Estudo Comparativo das 3 Sondagens de Porto Alegre (SBPA - 83971)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📍 3 Casos Selecionados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1. Estável: 12/12/1995 12Z</a:t>
            </a:r>
            <a:br/>
            <a:r>
              <a:t>2. Neutra: 23/12/1995 12Z</a:t>
            </a:r>
            <a:br/>
            <a:r>
              <a:t>3. Instável: 24/12/1995 12Z</a:t>
            </a:r>
            <a:br/>
            <a:r>
              <a:t>Local: SBPA (Porto Alegre)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⚡ 3 Análises Completas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Flutuabilidade e CAPE/CIN</a:t>
            </a:r>
            <a:br/>
            <a:r>
              <a:t>• Emanuel Tρ e Water Loading</a:t>
            </a:r>
            <a:br/>
            <a:r>
              <a:t>• Freq. Brunt-Väisälä N² e Lid</a:t>
            </a:r>
            <a:br/>
            <a:r>
              <a:t>• JBN e Helicidade (SRH)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3429000"/>
            <a:ext cx="3291840" cy="20116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566160"/>
            <a:ext cx="3017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📚 Arcabouço Teórico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Kerry Emanuel (1994)</a:t>
            </a:r>
            <a:br/>
            <a:r>
              <a:t>• MIT OCW 12.811</a:t>
            </a:r>
            <a:br/>
            <a:r>
              <a:t>• wyoming.f / tcon.py</a:t>
            </a:r>
            <a:br/>
            <a:r>
              <a:t>• MetPy &amp; Cartopy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</a:defRPr>
            </a:pPr>
            <a:r>
              <a:t>Orientador: Prof. Dr. Reinaldo Haas   •   Disciplina: FSC7116 - Meteorologia de Mesoescala (UFSC)</a:t>
            </a:r>
          </a:p>
          <a:p>
            <a:pPr>
              <a:spcBef>
                <a:spcPts val="300"/>
              </a:spcBef>
              <a:defRPr sz="1000">
                <a:solidFill>
                  <a:srgbClr val="FBBF24"/>
                </a:solidFill>
              </a:defRPr>
            </a:pPr>
            <a:r>
              <a:t>⏱️ Tempo de Apresentação: 20 Minutos  |  Roteiro com 3 Sondagens e 3 Análises Completas para a Banca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00 - 03 min  |  Slide 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Forçamento Sinótico &amp; Suporte Dinâmico de Mesoescala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Acoplamento Vertical sobre a América do Sul (500 e 850 hPa) com Divisão de Continentes, Países e Estados (Cartopy)</a:t>
            </a:r>
          </a:p>
        </p:txBody>
      </p:sp>
      <p:pic>
        <p:nvPicPr>
          <p:cNvPr id="7" name="Picture 6" descr="fig_synoptic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321419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Cartografia e Divisão Continental (Cartopy):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Mapa georreferenciado da América do Sul exibindo fronteiras de Brasil, Argentina, Uruguai e Paraguai, além dos estados (RS, SC, PR).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Permite localizar espacialmente o contraste orográfico dos Andes e a Bacia do Prata.</a:t>
            </a:r>
          </a:p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Nível Médio (500 hPa) - Forçamento Dinâmico: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Cavado de onda curta pronunciado sobre a Argentina / Andes.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Difluência acentuada a jusante diretamente sobre o RS.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Advecção de Vorticidade Ciclônica Relativa (CVA / PVA) gerando sustentação de grande escala (ω &lt; 0 via Eq. Ômega QG).</a:t>
            </a:r>
          </a:p>
          <a:p>
            <a:pPr>
              <a:spcBef>
                <a:spcPts val="600"/>
              </a:spcBef>
              <a:defRPr sz="1050" b="1">
                <a:solidFill>
                  <a:srgbClr val="34D399"/>
                </a:solidFill>
              </a:defRPr>
            </a:pPr>
            <a:r>
              <a:t>Baixos Níveis (850 hPa) - Alimentação pelo JBN: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Jato em Baixos Níveis (JBN) canalizado a leste dos Andes com ventos &gt; 23 m/s (44 kt) transportando calor e umidade da Amazônia/Chaco.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Crista pronunciada de θe (&gt; 355 K) convergindo no RS.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Desestabilização diferencial da camada limite atmosférica.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Estável (12/12) vs Neutra (23/12)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 Individual dos Dois Primeiros Regimes: Pós-Frontal Estável e Transição Neutra</a:t>
            </a:r>
          </a:p>
        </p:txBody>
      </p:sp>
      <p:pic>
        <p:nvPicPr>
          <p:cNvPr id="7" name="Picture 6" descr="fig_3_soundings_complet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358560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050" b="1">
                <a:solidFill>
                  <a:srgbClr val="38BDF8"/>
                </a:solidFill>
              </a:defRPr>
            </a:pPr>
            <a:r>
              <a:t>ANÁLISE 1: Atmosfera Estável (12/12/1995 12Z)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Sinótica: Domínio pós-frontal de alta pressão migratória e forte subsidência.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Termodinâmica: Ar muito seco em médios níveis (T - Td &gt; 15°C); inversão de subsidência; SBCAPE = 15.7 J/kg; MUCAPE = 0 J/kg; sem LFC/EL.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Emanuel Tρ: Sem água líquida condensada (rl = 0); CAPE reversível e pseudoadiabático nulos.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Brunt-Väisälä: N² &gt; 0 em toda a coluna (estabilidade estática profunda).</a:t>
            </a:r>
          </a:p>
          <a:p>
            <a:pPr>
              <a:spcBef>
                <a:spcPts val="600"/>
              </a:spcBef>
              <a:defRPr sz="1050" b="1">
                <a:solidFill>
                  <a:srgbClr val="FBBF24"/>
                </a:solidFill>
              </a:defRPr>
            </a:pPr>
            <a:r>
              <a:t>ANÁLISE 2: Atmosfera Neutra / Transição (23/12/1995 12Z)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Sinótica: Deslocamento da alta para o Atlântico; retorno do fluxo tropical de norte.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Termodinâmica: Umedecimento progressivo da CLP (T0=25.8°C, Td0=24.4°C, r_max=19.4 g/kg); SBCAPE = 2762 J/kg; PW = 57.0 mm.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Inibição / Gatilho: Apesar do CAPE moderado, ausência de suporte dinâmico em 500 hPa; cisalhamento fraco (Bulk Shear 0-6km = 10.2 m/s).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• Modo Convectivo: Regime quase-neutro, cúmulos desorganizados ou convecção isolada sem severidade.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03 - 07 min  |  Slide 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As Três Sondagens &amp; Três Análises: Instável Severa (24/12) &amp; Matriz Comparativa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Diagnóstico Físico do Caso Severo e Tabela Comparativa Tríplice dos Três Estados Atmosféricos</a:t>
            </a:r>
          </a:p>
        </p:txBody>
      </p:sp>
      <p:pic>
        <p:nvPicPr>
          <p:cNvPr id="7" name="Picture 6" descr="fig_colab_severe_skew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394860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691640"/>
            <a:ext cx="36118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  <a:defRPr sz="1050" b="1">
                <a:solidFill>
                  <a:srgbClr val="F87171"/>
                </a:solidFill>
              </a:defRPr>
            </a:pPr>
            <a:r>
              <a:t>ANÁLISE 3: Atmosfera Instável / Explosiva (24/12)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Inversão quente/úmida em 925 hPa (JBN): T = 30°C, Td = 25°C, r = 22.02 g/kg.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MUCAPE: 4.645 J/kg | SBCAPE: 1.862 J/kg | CIN: -6.5 J/kg.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LCL a 600 m (942 hPa), LFC imediato e EL a 165 hPa (~13.8 km).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Instabilidade Convectiva: ∂θe / ∂z &lt; 0 profundo até 650 hPa.</a:t>
            </a:r>
          </a:p>
          <a:p>
            <a:pPr>
              <a:spcBef>
                <a:spcPts val="500"/>
              </a:spcBef>
              <a:defRPr sz="1050" b="1">
                <a:solidFill>
                  <a:srgbClr val="38BDF8"/>
                </a:solidFill>
              </a:defRPr>
            </a:pPr>
            <a:r>
              <a:t>MATRIZ COMPARATIVA TRÍPLICE (3 SONDAGENS):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Estável (12/12): MUCAPE = 0 J/kg | CIN = 0 | Shear = 13.7 m/s | r = 11.6 g/kg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Neutra (23/12): MUCAPE = 2762 J/kg | CIN = 0 | Shear = 10.2 m/s | r = 19.4 g/kg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• Instável (24/12): MUCAPE = 4645 J/kg | CIN = -6.5 | Shear = 28.7 m/s | r = 22.0 g/kg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Conclusão: O caso 24/12 combina flutuabilidade extrema com cisalhamento supercelular e JBN.</a:t>
            </a:r>
          </a:p>
          <a:p>
            <a:pPr>
              <a:spcBef>
                <a:spcPts val="500"/>
              </a:spcBef>
              <a:defRPr sz="1050" b="1">
                <a:solidFill>
                  <a:srgbClr val="FBBF24"/>
                </a:solidFill>
              </a:defRPr>
            </a:pPr>
            <a:r>
              <a:t>Diretriz Metodológica para os Alunos:</a:t>
            </a:r>
          </a:p>
          <a:p>
            <a:pPr>
              <a:spcBef>
                <a:spcPts val="200"/>
              </a:spcBef>
              <a:defRPr sz="880">
                <a:solidFill>
                  <a:srgbClr val="F8FAFC"/>
                </a:solidFill>
              </a:defRPr>
            </a:pPr>
            <a:r>
              <a:t>• Ao realizarem o trabalho, os alunos devem montar uma matriz comparativa análoga destacando a evolução física dos três estados.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07 - 10 min  |  Slide 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Teoria de Emanuel (1994) &amp; Matrizes 2D das Três Sondagens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Comparação Tríplice no wyoming.py / tcon.py - Water Loading (-rl) e Flutuabilidade (MIT OCW 12.811)</a:t>
            </a:r>
          </a:p>
        </p:txBody>
      </p:sp>
      <p:pic>
        <p:nvPicPr>
          <p:cNvPr id="7" name="Picture 6" descr="fig_3_soundings_emanuel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381160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Fundamentação Teórica - Kerry Emanuel (1994):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Referência: Kerry Emanuel (1994), 'Atmospheric Convection', Oxford Univ. Press (Cap. 4 e 6).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Disciplina clássica do MIT: MIT OCW 12.811.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Código de referência: wyoming.f / wyoming.py e matrizes tdifrev / tdifpseudo.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Temperatura de Densidade (Tρ) &amp; Arrasto: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Tρ = T · (1 + rv/ε) / (1 + rv + rl) ≈ Tv · (1 - rl)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Incorpora o peso da água líquida condensada suspensa na parcela (-rl).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Diagnóstico dos 3 Regimes nas Matrizes 2D: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12/12 (Estável): Azul em toda a malha. Flutuabilidade negativa, sem suporte a convecção (PA ≈ 23 J/kg).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23/12 (Neutra): Camada de empuxo positiva moderada rasa (PA = 2.536 J/kg pseudo vs 1.266 J/kg rev).</a:t>
            </a:r>
          </a:p>
          <a:p>
            <a:pPr>
              <a:spcBef>
                <a:spcPts val="200"/>
              </a:spcBef>
              <a:defRPr sz="930">
                <a:solidFill>
                  <a:srgbClr val="F8FAFC"/>
                </a:solidFill>
              </a:defRPr>
            </a:pPr>
            <a:r>
              <a:t>• 24/12 (Instável Severa): Núcleo maciço de empuxo extremo (ΔT &gt; +10 K) de 950 a 400 hPa. No JBN (925 hPa), PA atinge 7.781 J/kg com redução de 1.534 J/kg (-19.7%) por water loading!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Perfis Verticais do Colab: Comparação das Três Sondagens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Confronto de θe, Frequência de Brunt-Väisälä (N), Estabilidade Estática (S) e Umidade (r)</a:t>
            </a:r>
          </a:p>
        </p:txBody>
      </p:sp>
      <p:pic>
        <p:nvPicPr>
          <p:cNvPr id="7" name="Picture 6" descr="fig_3_soundings_profile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86986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Temperatura Potencial Equivalente (θe):</a:t>
            </a:r>
          </a:p>
          <a:p>
            <a:pPr>
              <a:spcBef>
                <a:spcPts val="200"/>
              </a:spcBef>
              <a:defRPr sz="919">
                <a:solidFill>
                  <a:srgbClr val="F8FAFC"/>
                </a:solidFill>
              </a:defRPr>
            </a:pPr>
            <a:r>
              <a:t>• 12/12 (Estável): θe_sfc = 324.2 K, perfil quase uniforme, sem instabilidade.</a:t>
            </a:r>
          </a:p>
          <a:p>
            <a:pPr>
              <a:spcBef>
                <a:spcPts val="200"/>
              </a:spcBef>
              <a:defRPr sz="919">
                <a:solidFill>
                  <a:srgbClr val="F8FAFC"/>
                </a:solidFill>
              </a:defRPr>
            </a:pPr>
            <a:r>
              <a:t>• 23/12 (Neutra): θe_sfc = 354.8 K, umedecimento da coluna, mas gradiente vertical fraco.</a:t>
            </a:r>
          </a:p>
          <a:p>
            <a:pPr>
              <a:spcBef>
                <a:spcPts val="200"/>
              </a:spcBef>
              <a:defRPr sz="919">
                <a:solidFill>
                  <a:srgbClr val="F8FAFC"/>
                </a:solidFill>
              </a:defRPr>
            </a:pPr>
            <a:r>
              <a:t>• 24/12 (Severa): Injeção colossal de θe = 377.8 K pelo JBN em 925 hPa com forte gradiente ∂θe/∂z &lt; 0 (instabilidade potencial severa).</a:t>
            </a:r>
          </a:p>
          <a:p>
            <a:pPr>
              <a:spcBef>
                <a:spcPts val="600"/>
              </a:spcBef>
              <a:defRPr sz="1100" b="1">
                <a:solidFill>
                  <a:srgbClr val="A78BFA"/>
                </a:solidFill>
              </a:defRPr>
            </a:pPr>
            <a:r>
              <a:t>Frequência de Brunt-Väisälä (N) &amp; Capping Lid:</a:t>
            </a:r>
          </a:p>
          <a:p>
            <a:pPr>
              <a:spcBef>
                <a:spcPts val="200"/>
              </a:spcBef>
              <a:defRPr sz="919">
                <a:solidFill>
                  <a:srgbClr val="F8FAFC"/>
                </a:solidFill>
              </a:defRPr>
            </a:pPr>
            <a:r>
              <a:t>• N² = (g / θv) · (∂θv / ∂z) quantifica a rigidez de oscilação das ondas de gravidade.</a:t>
            </a:r>
          </a:p>
          <a:p>
            <a:pPr>
              <a:spcBef>
                <a:spcPts val="200"/>
              </a:spcBef>
              <a:defRPr sz="919">
                <a:solidFill>
                  <a:srgbClr val="F8FAFC"/>
                </a:solidFill>
              </a:defRPr>
            </a:pPr>
            <a:r>
              <a:t>• 12/12 &amp; 23/12: Sem inversão expressiva em baixos níveis.</a:t>
            </a:r>
          </a:p>
          <a:p>
            <a:pPr>
              <a:spcBef>
                <a:spcPts val="200"/>
              </a:spcBef>
              <a:defRPr sz="919">
                <a:solidFill>
                  <a:srgbClr val="F8FAFC"/>
                </a:solidFill>
              </a:defRPr>
            </a:pPr>
            <a:r>
              <a:t>• 24/12: Pico agudo de N em 925 hPa (~0.028 s⁻¹) formando o Capping Lid (tampa de panela de pressão que conteve a convecção até o disparo explosivo).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Estabilidade Estática (S) &amp; Razão de Mistura (r):</a:t>
            </a:r>
          </a:p>
          <a:p>
            <a:pPr>
              <a:spcBef>
                <a:spcPts val="200"/>
              </a:spcBef>
              <a:defRPr sz="919">
                <a:solidFill>
                  <a:srgbClr val="F8FAFC"/>
                </a:solidFill>
              </a:defRPr>
            </a:pPr>
            <a:r>
              <a:t>• 12/12: r_max = 11.6 g/kg | PW = 35.1 mm (ar pós-frontal seco).</a:t>
            </a:r>
          </a:p>
          <a:p>
            <a:pPr>
              <a:spcBef>
                <a:spcPts val="200"/>
              </a:spcBef>
              <a:defRPr sz="919">
                <a:solidFill>
                  <a:srgbClr val="F8FAFC"/>
                </a:solidFill>
              </a:defRPr>
            </a:pPr>
            <a:r>
              <a:t>• 23/12: r_max = 19.4 g/kg | PW = 57.0 mm (advecção tropical).</a:t>
            </a:r>
          </a:p>
          <a:p>
            <a:pPr>
              <a:spcBef>
                <a:spcPts val="200"/>
              </a:spcBef>
              <a:defRPr sz="919">
                <a:solidFill>
                  <a:srgbClr val="F8FAFC"/>
                </a:solidFill>
              </a:defRPr>
            </a:pPr>
            <a:r>
              <a:t>• 24/12: r_max = 22.0 g/kg em 925 hPa | PW = 55.3 mm (núcleo extremo de vapor alimentado pelo JBN).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10 - 14 min  |  Slide 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Umidade Troposférica &amp; Potencial de Downbursts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Razão de Mistura r(z), Água Precipitável (PW) e Downdraft CAPE (DCAPE) via Resfriamento Evaporativo</a:t>
            </a:r>
          </a:p>
        </p:txBody>
      </p:sp>
      <p:pic>
        <p:nvPicPr>
          <p:cNvPr id="7" name="Picture 6" descr="fig_profiles_199512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272539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Razão de Mistura Extrema (r):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Superfície: r = 18.0 g/kg.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Pico do JBN (925 hPa): r = 22.02 g/kg (valor excepcional para o Sul do Brasil, característico de massas equatoriais).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Decaimento abrupto acima de 700 hPa, criando contraste com ar seco em médios níveis.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Água Precipitável Total (PW):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PW = (1/g) ∫ q dp = 52.4 mm.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Percentil &gt; 95% para Porto Alegre no mês de dezembro.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Indica alto potencial de precipitação torrencial horária (&gt; 60 mm/h) e inundações repentinas.</a:t>
            </a:r>
          </a:p>
          <a:p>
            <a:pPr>
              <a:spcBef>
                <a:spcPts val="600"/>
              </a:spcBef>
              <a:defRPr sz="1100" b="1">
                <a:solidFill>
                  <a:srgbClr val="F87171"/>
                </a:solidFill>
              </a:defRPr>
            </a:pPr>
            <a:r>
              <a:t>Downdraft CAPE (DCAPE = 1.149 J/kg):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Medida do empuxo negativo gerado pelo resfriamento evaporativo da chuva em ar não saturado a 650 hPa.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Velocidade teórica da descendente: W_down = √(2 · DCAPE) ≈ 47.9 m/s (~172 km/h).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Ambiente altamente propício a Microbursts úmidos e frentes de rajada violentas ao atingir o solo.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14 - 17 min  |  Slide 8/10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Cinemática &amp; Dinâmica: Hodógrafo, JBN e Helicidade (SRH)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Curvatura do Vento na Baixa Troposfera e Cisalhamento Vertical Suportando Supercélulas de Alta Precipitação</a:t>
            </a:r>
          </a:p>
        </p:txBody>
      </p:sp>
      <p:pic>
        <p:nvPicPr>
          <p:cNvPr id="7" name="Picture 6" descr="fig_kinematics_hodo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583680" cy="586071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98079" y="1600200"/>
            <a:ext cx="3977639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361188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Jato em Baixos Níveis (JBN) em 925 hPa: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Vento de 44 nós (23.2 m/s) de direção 60° (ENE).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Gera curvatura anticiclônica proeminente no hodógrafo nos primeiros 1.500 m.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No Hemisfério Sul, giro do vento no sentido horário com a altura favorece supercélulas de rotação ciclônica.</a:t>
            </a:r>
          </a:p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Cisalhamento Vertical Profundo (Bulk Shear 0-6 km):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Magnitude: 28.7 m/s (55.8 nós).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Limiar clássico de supercélulas é &gt; 20 m/s (Markowski &amp; Richardson, 2010).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Garante a separação física entre a corrente ascendente e as correntes descendentes de precipitação.</a:t>
            </a:r>
          </a:p>
          <a:p>
            <a:pPr>
              <a:spcBef>
                <a:spcPts val="600"/>
              </a:spcBef>
              <a:defRPr sz="1100" b="1">
                <a:solidFill>
                  <a:srgbClr val="34D399"/>
                </a:solidFill>
              </a:defRPr>
            </a:pPr>
            <a:r>
              <a:t>Helicidade Relativa à Tempestade (SRH):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SRH 0-1 km: 158 m²/s² | SRH 0-3 km: 245 m²/s².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Valores &gt; 150-200 m²/s² fornecem influxo contínuo de vorticidade streamwise à corrente ascendente.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Bulk Richardson Number: BRN = 34.2 (faixa ideal para supercélulas isoladas e multicélulas severas).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17 - 19 min  |  Slide 9/10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Monitoramento por Satélite: Imagem Infravermelho (IR 11 µm)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Satélite GOES-8 / NOAA ISCCP-H (24/12/1995): Evolução da Convecção Profunda e Enchente de Natal</a:t>
            </a:r>
          </a:p>
        </p:txBody>
      </p:sp>
      <p:pic>
        <p:nvPicPr>
          <p:cNvPr id="7" name="Picture 6" descr="fig_sat_ir_199512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680960" cy="39364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12480" y="1554480"/>
            <a:ext cx="3200400" cy="475488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49640" y="1691640"/>
            <a:ext cx="2926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100" b="1">
                <a:solidFill>
                  <a:srgbClr val="38BDF8"/>
                </a:solidFill>
              </a:defRPr>
            </a:pPr>
            <a:r>
              <a:t>Satélite &amp; Base de Dados: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Sensor: Imager GOES-8 (Canal 4 - IR 11 µm).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Fonte: NOAA ISCCP-H CDR (Gridded 10 km).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Cobertura: América do Sul e Bacia do Prata.</a:t>
            </a:r>
          </a:p>
          <a:p>
            <a:pPr>
              <a:spcBef>
                <a:spcPts val="600"/>
              </a:spcBef>
              <a:defRPr sz="1100" b="1">
                <a:solidFill>
                  <a:srgbClr val="FBBF24"/>
                </a:solidFill>
              </a:defRPr>
            </a:pPr>
            <a:r>
              <a:t>Painel A (12:00 UTC / 09:00 HL):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Horário síncrono da radiossondagem de SBPA.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Camada de ar úmido sob forte Capping Lid.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Convecção ativa sobre a fronteira oeste com topos a -59°C (170 hPa).</a:t>
            </a:r>
          </a:p>
          <a:p>
            <a:pPr>
              <a:spcBef>
                <a:spcPts val="600"/>
              </a:spcBef>
              <a:defRPr sz="1100" b="1">
                <a:solidFill>
                  <a:srgbClr val="F87171"/>
                </a:solidFill>
              </a:defRPr>
            </a:pPr>
            <a:r>
              <a:t>Painel B (18:00 UTC / 15:00 HL):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Auge vespertino da convecção severa.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Rompimento explosivo da inversão e avanço do Complexo Convectivo de Mesoescala (CCM).</a:t>
            </a:r>
          </a:p>
          <a:p>
            <a:pPr>
              <a:spcBef>
                <a:spcPts val="200"/>
              </a:spcBef>
              <a:defRPr sz="950">
                <a:solidFill>
                  <a:srgbClr val="F8FAFC"/>
                </a:solidFill>
              </a:defRPr>
            </a:pPr>
            <a:r>
              <a:t>• Topos penetrantes a -63.5°C (160 hPa) descarregando chuvas torrenciais (Enchente de Natal).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56032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UFSC  •  FSC7116 METEOROLOGIA DE MESOESCALA  •  PROF. REINALDO HAAS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961120" y="228600"/>
            <a:ext cx="251460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⏱️  17 - 20 min  |  Slide 10/10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21792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8FAFC"/>
                </a:solidFill>
              </a:defRPr>
            </a:pPr>
            <a:r>
              <a:t>Conclusão &amp; Fechamento para Arguição da Banca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7899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94A3B8"/>
                </a:solidFill>
              </a:defRPr>
            </a:pPr>
            <a:r>
              <a:t>Resumo Quantitativo dos Parâmetros Diagnósticos, Bibliografia Citada e Abertura para Perguntas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00200"/>
            <a:ext cx="530352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37360"/>
            <a:ext cx="5029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BBF24"/>
                </a:solidFill>
              </a:defRPr>
            </a:pPr>
            <a:r>
              <a:t>Tabela Resumo dos Parâmetros Diagnósticos (SBPA):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SBCAPE / MUCAPE: </a:t>
            </a:r>
            <a:r>
              <a:rPr b="1">
                <a:solidFill>
                  <a:srgbClr val="F87171"/>
                </a:solidFill>
              </a:rPr>
              <a:t>1.862 J/kg  /  4.645 J/kg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SBCIN / MUCIN: </a:t>
            </a:r>
            <a:r>
              <a:rPr b="1">
                <a:solidFill>
                  <a:srgbClr val="38BDF8"/>
                </a:solidFill>
              </a:rPr>
              <a:t>-185 J/kg  /  -6.5 J/kg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Emanuel CAPE (Reversível): </a:t>
            </a:r>
            <a:r>
              <a:rPr b="1">
                <a:solidFill>
                  <a:srgbClr val="34D399"/>
                </a:solidFill>
              </a:rPr>
              <a:t>3.832 J/kg (Water Loading: -340 J/kg)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Downdraft CAPE (DCAPE): </a:t>
            </a:r>
            <a:r>
              <a:rPr b="1">
                <a:solidFill>
                  <a:srgbClr val="F87171"/>
                </a:solidFill>
              </a:rPr>
              <a:t>1.149 J/kg  (W_down ≈ 47.9 m/s)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Água Precipitável (PW): </a:t>
            </a:r>
            <a:r>
              <a:rPr b="1">
                <a:solidFill>
                  <a:srgbClr val="38BDF8"/>
                </a:solidFill>
              </a:rPr>
              <a:t>52.4 mm (Percentil &gt; 95%)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Razão de Mistura Máx (925 hPa): </a:t>
            </a:r>
            <a:r>
              <a:rPr b="1">
                <a:solidFill>
                  <a:srgbClr val="38BDF8"/>
                </a:solidFill>
              </a:rPr>
              <a:t>22.02 g/kg (Alimentação pelo JBN)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JBN em 925 hPa: </a:t>
            </a:r>
            <a:r>
              <a:rPr b="1">
                <a:solidFill>
                  <a:srgbClr val="FBBF24"/>
                </a:solidFill>
              </a:rPr>
              <a:t>44 nós (23.2 m/s) de direção 60° (ENE)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Bulk Shear 0-6 km: </a:t>
            </a:r>
            <a:r>
              <a:rPr b="1">
                <a:solidFill>
                  <a:srgbClr val="34D399"/>
                </a:solidFill>
              </a:rPr>
              <a:t>28.7 m/s (55.8 kt) [Supercélulas]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Helicidade SRH 0-3 km: </a:t>
            </a:r>
            <a:r>
              <a:rPr b="1">
                <a:solidFill>
                  <a:srgbClr val="34D399"/>
                </a:solidFill>
              </a:rPr>
              <a:t>245 m²/s² (Rotação Ciclônica no HS)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• Bulk Richardson Number (BRN): </a:t>
            </a:r>
            <a:r>
              <a:rPr b="1">
                <a:solidFill>
                  <a:srgbClr val="F8FAFC"/>
                </a:solidFill>
              </a:rPr>
              <a:t>34.2 (Ambiente Supercelular)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00200"/>
            <a:ext cx="5257800" cy="4709160"/>
          </a:xfrm>
          <a:prstGeom prst="roundRect">
            <a:avLst/>
          </a:prstGeom>
          <a:solidFill>
            <a:srgbClr val="131E3A"/>
          </a:solidFill>
          <a:ln w="1524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48920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38BDF8"/>
                </a:solidFill>
              </a:defRPr>
            </a:pPr>
            <a:r>
              <a:t>Referências Bibliográficas Obrigatórias: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Emanuel, K. A. (1994). Atmospheric Convection. Oxford University Press, 580 pp.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MIT OpenCourseWare (Course 12.811). Atmospheric Convection. Massachusetts Institute of Technology.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Markowski, P., &amp; Richardson, Y. (2010). Mesoscale Meteorology in Midlatitudes. Wiley-Blackwell, 407 pp.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Doswell, C. A. III (2001). Severe Convective Storms. Meteorological Monographs, AMS.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• MetPy Development Team (2024). MetPy: A Python Package for Meteorological Data.</a:t>
            </a:r>
          </a:p>
          <a:p>
            <a:pPr>
              <a:spcBef>
                <a:spcPts val="1000"/>
              </a:spcBef>
              <a:defRPr sz="1150" b="1">
                <a:solidFill>
                  <a:srgbClr val="34D399"/>
                </a:solidFill>
              </a:defRPr>
            </a:pPr>
            <a:r>
              <a:t>Fechamento &amp; Agradecimentos:</a:t>
            </a:r>
          </a:p>
          <a:p>
            <a:pPr>
              <a:spcBef>
                <a:spcPts val="300"/>
              </a:spcBef>
              <a:defRPr sz="950">
                <a:solidFill>
                  <a:srgbClr val="F8FAFC"/>
                </a:solidFill>
              </a:defRPr>
            </a:pPr>
            <a:r>
              <a:t>Agradeço ao Professor Dr. Reinaldo Haas pela orientação e aos membros da banca examinadora pela atenção.</a:t>
            </a:r>
            <a:br/>
            <a:br/>
            <a:r>
              <a:t>O código-fonte completo (wyoming.py, tcon.py, skewt.py, plot_meso.py e o dashboard interativo) encontra-se disponível no repositório GitHub.</a:t>
            </a:r>
            <a:br/>
            <a:br/>
            <a:r>
              <a:t>Estou à disposição para as perguntas e considerações da banca.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