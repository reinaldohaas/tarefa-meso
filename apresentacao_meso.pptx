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(00:00 - 01:30):</a:t>
            </a:r>
          </a:p>
          <a:p>
            <a:r>
              <a:t>Bom dia à banca examinadora, ao Professor Reinaldo Haas e aos colegas presentes.</a:t>
            </a:r>
          </a:p>
          <a:p>
            <a:r>
              <a:t>Hoje apresento o seminário de Meteorologia de Mesoescala referente à análise diagnóstica completa de uma tempestade severa histórica na Bacia do Prata, ocorrida em 24 de dezembro de 1995 às 12Z sobre a estação de Porto Alegre (SBPA).</a:t>
            </a:r>
          </a:p>
          <a:p/>
          <a:p>
            <a:r>
              <a:t>Este trabalho está fundamentado na termodinâmica de parcelas formulada por Kerry Emanuel em seu clássico livro 'Atmospheric Convection' (1994) e no código wyoming.f do MIT OCW 12.811, combinado com o ecossistema moderno em Python utilizando o MetPy.</a:t>
            </a:r>
          </a:p>
          <a:p/>
          <a:p>
            <a:r>
              <a:t>Nosso objetivo neste seminário de 20 minutos é responder: quais foram os gatilhos termodinâmicos e dinâmicos que transformaram uma atmosfera pós-frontal estável em um ambiente de convecção profunda explosiva com CAPE superior a 4.600 J/kg e cisalhamento vertical capaz de gerar supercélulas de alta precipitação e rajadas destrutivas.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(01:30 - 03:00):</a:t>
            </a:r>
          </a:p>
          <a:p>
            <a:r>
              <a:t>Passando para a configuração sinótica que sustentou este caso no dia 24 de dezembro de 1995 às 12Z.</a:t>
            </a:r>
          </a:p>
          <a:p>
            <a:r>
              <a:t>À esquerda, temos o mapa de reanálise em dois níveis fundamentais: 500 hPa e 850 hPa.</a:t>
            </a:r>
          </a:p>
          <a:p>
            <a:r>
              <a:t>Em 500 hPa, observamos um cavado pronunciado adentrando a partir da Argentina, estabelecendo uma forte difluência de mesoescala sobre o Rio Grande do Sul. Pela teoria Quase-Geostrófica, a advecção de vorticidade ciclônica relativa positiva (CVA ou PVA) força movimentos verticais ascendentes de grande escala (ômega negativo), reduzindo as pressões à superfície e enfraquecendo a estabilidade atmosférica.</a:t>
            </a:r>
          </a:p>
          <a:p/>
          <a:p>
            <a:r>
              <a:t>Simultaneamente, em 850 hPa, identificamos a atuação clássica do Jato em Baixos Níveis da América do Sul (JBN), canalizado a leste dos Andes. O JBN atinge velocidades superiores a 23 m/s (44 nós) em 925/850 hPa, bombeando uma língua de altíssima temperatura potencial equivalente (θe &gt; 350 K) direto da bacia Amazônica e do Chaco em direção ao RS.</a:t>
            </a:r>
          </a:p>
          <a:p>
            <a:r>
              <a:t>Esse acoplamento vertical — forçamento dinâmico em médios níveis sobreposto a uma advecção térmica e de umidade agressiva em baixos níveis — é o clássico 'carregamento da mola' para os maiores eventos de tempo severo da América do Sul.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(03:00 - 05:00):</a:t>
            </a:r>
          </a:p>
          <a:p>
            <a:r>
              <a:t>Entrando no bloco obrigatório de comparação das três sondagens atmosféricas de Porto Alegre obtidas na Universidade de Wyoming.</a:t>
            </a:r>
          </a:p>
          <a:p>
            <a:r>
              <a:t>No primeiro painel, dia 12 de dezembro de 1995 às 12Z, temos a condição de estabilidade pós-frontal. Notem a grande separação entre a curva vermelha (temperatura) e a verde (ponto de orvalho) em médios níveis, denotando subsidência anticiclônica e ar extremamente seco. A parcela de superfície não encontra nível de convecção livre (LFC); o CAPE é estritamente zero e a atmosfera é termodinamicamente inerte.</a:t>
            </a:r>
          </a:p>
          <a:p/>
          <a:p>
            <a:r>
              <a:t>No segundo painel, dia 23 de dezembro, 11 dias depois, a sinótica começa a mudar. O fluxo de norte reintroduz umidade nos primeiros quilômetros. O perfil apresenta CAPE de 848 J/kg, porém ainda associado a uma inibição convectiva (CIN) substancial de -120 J/kg que bloqueia a convecção espontânea (estado marginalmente neutro/transição).</a:t>
            </a:r>
          </a:p>
          <a:p/>
          <a:p>
            <a:r>
              <a:t>Finalmente, no terceiro painel, dia 24 de dezembro, a situação atinge o limiar explosivo. A curva de orvalho cola na de temperatura nos primeiros 900 hPa. Há uma inversão extremamente quente e úmida em 925 hPa onde a temperatura atinge 30°C com ponto de orvalho de 25°C. O CAPE salta para mais de 1.860 J/kg para a superfície e incríveis 4.645 J/kg para a parcela mais instável (MUCAPE), enquanto a inibição cai para apenas -6.5 J/kg.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(05:00 - 07:00):</a:t>
            </a:r>
          </a:p>
          <a:p>
            <a:r>
              <a:t>Aprofundando a interpretação física da sondagem severa do dia 24 de dezembro.</a:t>
            </a:r>
          </a:p>
          <a:p>
            <a:r>
              <a:t>No gráfico Skew-T gerado pelo MetPy à esquerda, a área sombreada em vermelho representa o CAPE — a integral da aceleração de flutuabilidade entre o Nível de Convecção Livre (LFC) e o Nível de Equilíbrio (EL).</a:t>
            </a:r>
          </a:p>
          <a:p>
            <a:r>
              <a:t>Pela fórmula clássica do balanço de energia cinética, a velocidade vertical máxima teórica é a raiz de duas vezes o CAPE. Para o MUCAPE de 4.645 J/kg, isso resulta em um W_max de 96 m/s! Embora na natureza processos de arrasto de gotas, atrito e entranhamento de ar seco reduzam esse valor pela metade (~45 a 50 m/s), trata-se ainda de uma corrente ascendente violenta com energia suficiente para sustentar pedras de granizo gigantes.</a:t>
            </a:r>
          </a:p>
          <a:p/>
          <a:p>
            <a:r>
              <a:t>Outro aspecto vital cobrado pela banca é a condição de instabilidade potencial ou convectiva, dada matematicamente por ∂θe/∂z &lt; 0. Observamos que θe diminui fortemente com a altitude entre a superfície (349 K), atingindo um pico de 378 K em 925 hPa e caindo para menos de 335 K em 650 hPa. Quando o cavado sinótico ergue essa camada em bloco, o topo atinge a saturação mais tarde que a base úmida, gerando uma taxa de lapso vertical supersaturada extremamente instável.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(07:00 - 10:00):</a:t>
            </a:r>
          </a:p>
          <a:p>
            <a:r>
              <a:t>Este slide é de primordial importância para a banca, pois conecta nosso estudo diretamente com o arcabouço teórico de Kerry Emanuel (1994), 'Atmospheric Convection', e o material do curso MIT OCW 12.811.</a:t>
            </a:r>
          </a:p>
          <a:p>
            <a:r>
              <a:t>À esquerda, temos os gráficos 2D gerados pelo tcon.py a partir das saídas do código wyoming.py/wyoming.f.</a:t>
            </a:r>
          </a:p>
          <a:p>
            <a:r>
              <a:t>Emanuel demonstrou que na convecção real a temperatura virtual (Tv) não é suficiente para representar a densidade exata da parcela após a condensação, porque as gotas de água líquida condensada permanecem suspensas na corrente ascendente, exercendo um peso adicional para baixo.</a:t>
            </a:r>
          </a:p>
          <a:p/>
          <a:p>
            <a:r>
              <a:t>Por isso, ele introduziu formalmente a Temperatura de Densidade (Tρ), que adiciona o termo -rl no denominador: Tρ ≈ Tv * (1 - rl).</a:t>
            </a:r>
          </a:p>
          <a:p>
            <a:r>
              <a:t>Nos mapas de anomalia de temperatura de densidade:</a:t>
            </a:r>
          </a:p>
          <a:p>
            <a:r>
              <a:t>O painel esquerdo mostra a ascensão Reversível, onde a água condensada é retida. Para a parcela mais instável em 925 hPa, o CAPE reversível resulta em 3.832 J/kg.</a:t>
            </a:r>
          </a:p>
          <a:p>
            <a:r>
              <a:t>Já o painel direito mostra o modelo Pseudoadiabático, onde supõe-se que toda chuva precipita imediatamente, resultando em 4.172 J/kg.</a:t>
            </a:r>
          </a:p>
          <a:p>
            <a:r>
              <a:t>A diferença de 340 J/kg (cerca de 8.2%) representa a perda de energia cinética sofrida pela tempestade puramente pelo arrasto da carga de água (water loading). Em tempestades tropicais e subtropicais com alto conteúdo de água, ignorar o water loading leva a erros severos de superestimação da aceleração ascendente.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(10:00 - 12:00):</a:t>
            </a:r>
          </a:p>
          <a:p>
            <a:r>
              <a:t>No Capítulo 2 de Kerry Emanuel, a estabilidade atmosférica é formalmente descrita através do perfil vertical de temperatura potencial virtual (θv) e da Frequência de Brunt-Väisälä (N² = g/θv * dθv/dz).</a:t>
            </a:r>
          </a:p>
          <a:p>
            <a:r>
              <a:t>Nos painéis 1 e 2 à esquerda, vemos essa estrutura para o caso de Porto Alegre.</a:t>
            </a:r>
          </a:p>
          <a:p>
            <a:r>
              <a:t>A frequência N² quantifica a rigidez com que uma parcela de ar deslocada verticalmente oscila em torno da sua posição de equilíbrio como uma onda de gravidade interna.</a:t>
            </a:r>
          </a:p>
          <a:p/>
          <a:p>
            <a:r>
              <a:t>Prestem especial atenção ao comportamento de N² nos primeiros 1.000 metros:</a:t>
            </a:r>
          </a:p>
          <a:p>
            <a:r>
              <a:t>Observamos um pico acentuado de N² atingindo 4.5 × 10⁻⁴ s⁻² exatamente na camada entre 925 e 900 hPa. Esse pico marca a famosa inversão térmica conhecida na meteorologia de mesoescala como 'Capping Lid' (a tampa da camada limite).</a:t>
            </a:r>
          </a:p>
          <a:p>
            <a:r>
              <a:t>A presença do Capping Lid é um ingrediente paradoxal, mas obrigatório, para os maiores surtos de tempestades severas. Se não houvesse essa tampa estável, pequenas cúmulos se formariam desde as primeiras horas da manhã, consumindo gradualmente a umidade e aliviando a energia.</a:t>
            </a:r>
          </a:p>
          <a:p>
            <a:r>
              <a:t>O Capping Lid funciona como a tampa de uma panela de pressão: ele aprisiona todo o calor e umidade transportados pelo JBN na camada limite até que, no início da tarde, o aquecimento solar e a difluência de 500 hPa rompem a tampa, liberando toda a energia acumulada de uma só vez.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(12:00 - 14:00):</a:t>
            </a:r>
          </a:p>
          <a:p>
            <a:r>
              <a:t>Continuando o diagnóstico do Capítulo 2, examinamos o conteúdo de vapor d'água e o risco de correntes descendentes violentas.</a:t>
            </a:r>
          </a:p>
          <a:p>
            <a:r>
              <a:t>A razão de mistura de vapor d'água (r) medida em Porto Alegre atinge impressionantes 22.0 g/kg no nível de 925 hPa! Esse valor é extraordinário para latitudes subtropicais e atesta a eficiência do JBN em bombear umidade pura da Amazônia.</a:t>
            </a:r>
          </a:p>
          <a:p>
            <a:r>
              <a:t>A integral de umidade na coluna fornece uma Água Precipitável (PW) de 52.4 mm, situando-se no percentil 95 superior para o clima do Rio Grande do Sul.</a:t>
            </a:r>
          </a:p>
          <a:p/>
          <a:p>
            <a:r>
              <a:t>Mas o aspecto mais perigoso desta sondagem está na camada de ar mais seco localizada em médios níveis (~650 hPa).</a:t>
            </a:r>
          </a:p>
          <a:p>
            <a:r>
              <a:t>Quando a chuva intensa cai através dessa camada de ar insaturado, a evaporação parcial das gotas retira calor latente do ar, resfriando bruscamente a parcela. A parcela torna-se muito mais densa que a vizinhança e despenca em direção à superfície acelerada pela gravidade.</a:t>
            </a:r>
          </a:p>
          <a:p>
            <a:r>
              <a:t>O código wyoming.f de Kerry Emanuel calculou o Downdraft CAPE (DCAPE) deste perfil em 1.149 J/kg!</a:t>
            </a:r>
          </a:p>
          <a:p>
            <a:r>
              <a:t>Aplicando a equação da energia cinética descendente, obtemos uma velocidade de queda teórica de 47.9 m/s, correspondendo a ventos de até 172 km/h quando esse bolsão de ar atinge o solo e se espalha radialmente. Esse é o mecanismo físico gerador de microbursts e frentes de rajada destruidoras em tempestades severas.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(14:00 - 17:00):</a:t>
            </a:r>
          </a:p>
          <a:p>
            <a:r>
              <a:t>Entramos no bloco crucial de cinemática e dinâmica do vento.</a:t>
            </a:r>
          </a:p>
          <a:p>
            <a:r>
              <a:t>O gráfico à esquerda é o Hodógrafo Polar detalhado da sondagem de Porto Alegre.</a:t>
            </a:r>
          </a:p>
          <a:p>
            <a:r>
              <a:t>Cada ponto representa a ponta do vetor vento horizontal em diferentes altitudes, colorido por camadas de 0-1 km (vermelho), 1-3 km (verde), 3-6 km (azul) e alta troposfera (roxo).</a:t>
            </a:r>
          </a:p>
          <a:p/>
          <a:p>
            <a:r>
              <a:t>Dois aspectos saltam aos olhos:</a:t>
            </a:r>
          </a:p>
          <a:p>
            <a:r>
              <a:t>Primeiro, a presença evidente do Jato em Baixos Níveis (JBN) em 925 hPa, com vento atingindo 44 nós (23.2 m/s). Esse jato gera um semicírculo pronunciado no hodógrafo nos primeiros 1.500 metros.</a:t>
            </a:r>
          </a:p>
          <a:p>
            <a:r>
              <a:t>No Hemisfério Sul, essa curvatura com giro horário do vento com a altura produz vorticidade horizontal puramente paralela ao escoamento relativo (vorticidade streamwise). Quando o ar entra na corrente ascendente, essa vorticidade horizontal é inclinada (tilting) para a vertical, gerando um mesociclone giratório sustentado!</a:t>
            </a:r>
          </a:p>
          <a:p/>
          <a:p>
            <a:r>
              <a:t>Segundo, o cisalhamento vertical profundo de 0 a 6 km atinge 28.7 m/s (quase 56 nós).</a:t>
            </a:r>
          </a:p>
          <a:p>
            <a:r>
              <a:t>A literatura clássica (Markowski &amp; Richardson, 2010; Doswell, 2001) estabelece que cisalhamentos 0-6 km superiores a 20 m/s são a condição sine qua non para o desenvolvimento de Supercélulas.</a:t>
            </a:r>
          </a:p>
          <a:p>
            <a:r>
              <a:t>O cisalhamento profundo inclina a coluna convectiva, fazendo com que a chuva e o granizo caiam fora da corrente ascendente, permitindo que a tempestade se auto-sustente por horas sem ser sufocada pela própria precipitação.</a:t>
            </a:r>
          </a:p>
          <a:p>
            <a:r>
              <a:t>Com SRH 0-3 km de 245 m²/s² e Bulk Richardson Number de 34, a cinemática confirma um ambiente clássico para tempestades supercelulares.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(17:00 - 18:30):</a:t>
            </a:r>
          </a:p>
          <a:p>
            <a:r>
              <a:t>Integrando todos os diagnósticos termodinâmicos e cinemáticos em um modelo conceitual de mesoescala.</a:t>
            </a:r>
          </a:p>
          <a:p>
            <a:r>
              <a:t>À esquerda, sintetizamos a estrutura física da tempestade prevista para este evento.</a:t>
            </a:r>
          </a:p>
          <a:p>
            <a:r>
              <a:t>A combinação de alto CAPE (acima de 3.800 J/kg no modelo reversível e 4.600 J/kg no MUCAPE) com cisalhamento vertical profundo de 28.7 m/s classifica inequivocamente o sistema como uma tempestade Supercelular.</a:t>
            </a:r>
          </a:p>
          <a:p/>
          <a:p>
            <a:r>
              <a:t>Entretanto, devido ao conteúdo excepcional de umidade troposférica (PW de 52.4 mm), esta tempestade não se comporta como uma supercélula clássica de planície seca (LP), mas sim como uma Supercélula de Alta Precipitação (HP Supercell).</a:t>
            </a:r>
          </a:p>
          <a:p>
            <a:r>
              <a:t>Em uma supercélula HP, a precipitação pesada e o granizo envolvem completamente o mesociclone, ocultando a rotação de observadores em solo e gerando chuvas torrenciais.</a:t>
            </a:r>
          </a:p>
          <a:p/>
          <a:p>
            <a:r>
              <a:t>Além disso, como o DCAPE é de 1.149 J/kg, a corrente descendente traseira (RFD) e a dianteira (FFD) produzem piscinas frias (cold pools) muito densas e agressivas.</a:t>
            </a:r>
          </a:p>
          <a:p>
            <a:r>
              <a:t>Quando a frente de rajada da piscina fria avança sobre o ar quente e úmido trazido pelo JBN, ela força novas convecções ao longo de sua borda. Esse mecanismo faz com que supercélulas individuais na Bacia do Prata rapidamente se fundam em linhas de instabilidade organizadas e Complexos Convectivos de Mesoescala (CCMs).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ROTEIRO DO ORADOR (18:30 - 20:00):</a:t>
            </a:r>
          </a:p>
          <a:p>
            <a:r>
              <a:t>Chegamos à conclusão do nosso seminário com a síntese quantitativa que resume com precisão a magnitude do evento.</a:t>
            </a:r>
          </a:p>
          <a:p>
            <a:r>
              <a:t>À esquerda, a tabela consolida os indicadores diagnosticados:</a:t>
            </a:r>
          </a:p>
          <a:p>
            <a:r>
              <a:t>- O ambiente contava com flutuabilidade extrema (MUCAPE de 4.645 J/kg) e inibição virtualmente nula (-6.5 J/kg).</a:t>
            </a:r>
          </a:p>
          <a:p>
            <a:r>
              <a:t>- O modelo reversível de Emanuel (1994) evidenciou que a retenção de condensado (water loading) atenua o CAPE em 340 J/kg, mas ainda sustenta 3.832 J/kg.</a:t>
            </a:r>
          </a:p>
          <a:p>
            <a:r>
              <a:t>- O DCAPE de 1.149 J/kg conferiu potencial para correntes descendentes de até 48 m/s (172 km/h).</a:t>
            </a:r>
          </a:p>
          <a:p>
            <a:r>
              <a:t>- O JBN em 925 hPa com 44 nós forneceu o influxo massivo de umidade (r = 22 g/kg, PW = 52.4 mm) e estabeleceu a curvatura do hodógrafo que garantiu uma Helicidade Relativa de 245 m²/s² e Cisalhamento 0-6 km de 28.7 m/s, favorecendo o desenvolvimento de uma Supercélula de Alta Precipitação (HP) com rajadas destrutivas.</a:t>
            </a:r>
          </a:p>
          <a:p/>
          <a:p>
            <a:r>
              <a:t>Agradeço sinceramente ao Professor Reinaldo Haas e aos ilustres membros da banca examinadora.</a:t>
            </a:r>
          </a:p>
          <a:p>
            <a:r>
              <a:t>Encerro a apresentação rigorosamente no tempo regulamentar de 20 minutos e coloco-me à inteira disposição para responder às perguntas da arguição. Muito obrigado!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457200"/>
          </a:xfrm>
          <a:prstGeom prst="rect">
            <a:avLst/>
          </a:prstGeom>
          <a:noFill/>
        </p:spPr>
        <p:txBody>
          <a:bodyPr wrap="none">
            <a:spAutoFit/>
          </a:bodyPr>
          <a:lstStyle/>
          <a:p>
            <a:pPr>
              <a:defRPr sz="1100" b="1">
                <a:solidFill>
                  <a:srgbClr val="38BDF8"/>
                </a:solidFill>
              </a:defRPr>
            </a:pPr>
            <a:r>
              <a:t>UNIVERSIDADE FEDERAL DE SANTA CATARINA  |  DEPARTAMENTO DE FÍSICA / CFM</a:t>
            </a:r>
          </a:p>
        </p:txBody>
      </p:sp>
      <p:sp>
        <p:nvSpPr>
          <p:cNvPr id="4" name="TextBox 3"/>
          <p:cNvSpPr txBox="1"/>
          <p:nvPr/>
        </p:nvSpPr>
        <p:spPr>
          <a:xfrm>
            <a:off x="914400" y="1280160"/>
            <a:ext cx="10332720" cy="1645920"/>
          </a:xfrm>
          <a:prstGeom prst="rect">
            <a:avLst/>
          </a:prstGeom>
          <a:noFill/>
        </p:spPr>
        <p:txBody>
          <a:bodyPr wrap="square">
            <a:spAutoFit/>
          </a:bodyPr>
          <a:lstStyle/>
          <a:p>
            <a:pPr>
              <a:defRPr sz="3200" b="1">
                <a:solidFill>
                  <a:srgbClr val="F8FAFC"/>
                </a:solidFill>
              </a:defRPr>
            </a:pPr>
            <a:r>
              <a:t>Diagnóstico Termodinâmico e Dinâmico</a:t>
            </a:r>
            <a:br/>
            <a:r>
              <a:t>de Tempestade Severa em Mesoescala</a:t>
            </a:r>
          </a:p>
          <a:p>
            <a:pPr>
              <a:spcBef>
                <a:spcPts val="800"/>
              </a:spcBef>
              <a:defRPr sz="1600">
                <a:solidFill>
                  <a:srgbClr val="FBBF24"/>
                </a:solidFill>
              </a:defRPr>
            </a:pPr>
            <a:r>
              <a:t>Estudo do Caso Extremo de Porto Alegre (SBPA - 83971) em 24 de Dezembro de 1995</a:t>
            </a:r>
          </a:p>
        </p:txBody>
      </p:sp>
      <p:sp>
        <p:nvSpPr>
          <p:cNvPr id="5" name="Rounded Rectangle 4"/>
          <p:cNvSpPr/>
          <p:nvPr/>
        </p:nvSpPr>
        <p:spPr>
          <a:xfrm>
            <a:off x="914400" y="3108960"/>
            <a:ext cx="3291840" cy="210312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246120"/>
            <a:ext cx="3017520" cy="1828800"/>
          </a:xfrm>
          <a:prstGeom prst="rect">
            <a:avLst/>
          </a:prstGeom>
          <a:noFill/>
        </p:spPr>
        <p:txBody>
          <a:bodyPr wrap="square">
            <a:spAutoFit/>
          </a:bodyPr>
          <a:lstStyle/>
          <a:p>
            <a:pPr>
              <a:defRPr sz="1400" b="1">
                <a:solidFill>
                  <a:srgbClr val="38BDF8"/>
                </a:solidFill>
              </a:defRPr>
            </a:pPr>
            <a:r>
              <a:t>📍 Local &amp; Horário</a:t>
            </a:r>
          </a:p>
          <a:p>
            <a:pPr>
              <a:spcBef>
                <a:spcPts val="800"/>
              </a:spcBef>
              <a:defRPr sz="1100">
                <a:solidFill>
                  <a:srgbClr val="F8FAFC"/>
                </a:solidFill>
              </a:defRPr>
            </a:pPr>
            <a:r>
              <a:t>Porto Alegre (SBPA - 83971)</a:t>
            </a:r>
            <a:br/>
            <a:r>
              <a:t>12Z (09:00 Horário Local)</a:t>
            </a:r>
            <a:br/>
            <a:r>
              <a:t>Bacia do Prata / Cone Sul</a:t>
            </a:r>
          </a:p>
        </p:txBody>
      </p:sp>
      <p:sp>
        <p:nvSpPr>
          <p:cNvPr id="7" name="Rounded Rectangle 6"/>
          <p:cNvSpPr/>
          <p:nvPr/>
        </p:nvSpPr>
        <p:spPr>
          <a:xfrm>
            <a:off x="4434840" y="3108960"/>
            <a:ext cx="3291840" cy="210312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3246120"/>
            <a:ext cx="3017520" cy="1828800"/>
          </a:xfrm>
          <a:prstGeom prst="rect">
            <a:avLst/>
          </a:prstGeom>
          <a:noFill/>
        </p:spPr>
        <p:txBody>
          <a:bodyPr wrap="square">
            <a:spAutoFit/>
          </a:bodyPr>
          <a:lstStyle/>
          <a:p>
            <a:pPr>
              <a:defRPr sz="1400" b="1">
                <a:solidFill>
                  <a:srgbClr val="F87171"/>
                </a:solidFill>
              </a:defRPr>
            </a:pPr>
            <a:r>
              <a:t>⚡ Severidade Convectiva</a:t>
            </a:r>
          </a:p>
          <a:p>
            <a:pPr>
              <a:spcBef>
                <a:spcPts val="800"/>
              </a:spcBef>
              <a:defRPr sz="1100">
                <a:solidFill>
                  <a:srgbClr val="F8FAFC"/>
                </a:solidFill>
              </a:defRPr>
            </a:pPr>
            <a:r>
              <a:t>MUCAPE: 4.645 J/kg</a:t>
            </a:r>
            <a:br/>
            <a:r>
              <a:t>SBCAPE: 1.862 J/kg | CIN: -6 J/kg</a:t>
            </a:r>
            <a:br/>
            <a:r>
              <a:t>JBN em 925 hPa: 44 kt (23 m/s)</a:t>
            </a:r>
          </a:p>
        </p:txBody>
      </p:sp>
      <p:sp>
        <p:nvSpPr>
          <p:cNvPr id="9" name="Rounded Rectangle 8"/>
          <p:cNvSpPr/>
          <p:nvPr/>
        </p:nvSpPr>
        <p:spPr>
          <a:xfrm>
            <a:off x="7955279" y="3108960"/>
            <a:ext cx="3291840" cy="210312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3246120"/>
            <a:ext cx="3017520" cy="1828800"/>
          </a:xfrm>
          <a:prstGeom prst="rect">
            <a:avLst/>
          </a:prstGeom>
          <a:noFill/>
        </p:spPr>
        <p:txBody>
          <a:bodyPr wrap="square">
            <a:spAutoFit/>
          </a:bodyPr>
          <a:lstStyle/>
          <a:p>
            <a:pPr>
              <a:defRPr sz="1400" b="1">
                <a:solidFill>
                  <a:srgbClr val="34D399"/>
                </a:solidFill>
              </a:defRPr>
            </a:pPr>
            <a:r>
              <a:t>📚 Fundamentação Teórica</a:t>
            </a:r>
          </a:p>
          <a:p>
            <a:pPr>
              <a:spcBef>
                <a:spcPts val="800"/>
              </a:spcBef>
              <a:defRPr sz="1100">
                <a:solidFill>
                  <a:srgbClr val="F8FAFC"/>
                </a:solidFill>
              </a:defRPr>
            </a:pPr>
            <a:r>
              <a:t>Teoria de Emanuel (1994)</a:t>
            </a:r>
            <a:br/>
            <a:r>
              <a:t>Código wyoming.f / tcon.py</a:t>
            </a:r>
            <a:br/>
            <a:r>
              <a:t>MIT OCW 12.811 &amp; MetPy</a:t>
            </a:r>
          </a:p>
        </p:txBody>
      </p:sp>
      <p:sp>
        <p:nvSpPr>
          <p:cNvPr id="11" name="TextBox 10"/>
          <p:cNvSpPr txBox="1"/>
          <p:nvPr/>
        </p:nvSpPr>
        <p:spPr>
          <a:xfrm>
            <a:off x="914400" y="5577840"/>
            <a:ext cx="10332720" cy="822960"/>
          </a:xfrm>
          <a:prstGeom prst="rect">
            <a:avLst/>
          </a:prstGeom>
          <a:noFill/>
        </p:spPr>
        <p:txBody>
          <a:bodyPr wrap="none">
            <a:spAutoFit/>
          </a:bodyPr>
          <a:lstStyle/>
          <a:p>
            <a:pPr>
              <a:defRPr sz="1100" b="1">
                <a:solidFill>
                  <a:srgbClr val="94A3B8"/>
                </a:solidFill>
              </a:defRPr>
            </a:pPr>
            <a:r>
              <a:t>Disciplina: FSC7116 - Meteorologia de Mesoescala   •   Orientador: Prof. Dr. Reinaldo Haas</a:t>
            </a:r>
          </a:p>
          <a:p>
            <a:pPr>
              <a:spcBef>
                <a:spcPts val="300"/>
              </a:spcBef>
              <a:defRPr sz="1000">
                <a:solidFill>
                  <a:srgbClr val="FBBF24"/>
                </a:solidFill>
              </a:defRPr>
            </a:pPr>
            <a:r>
              <a:t>⏱️ Tempo de Apresentação: 20 Minutos  |  Roteiro Estruturado para Arguição da Banca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00 - 03 min  |  Slide 2/10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Forçamento Sinótico &amp; Suporte Dinâmico de Mesoescala</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Acoplamento Vertical entre o Cavado em 500 hPa e o Jato em Baixos Níveis (JBN) em 850 hPa</a:t>
            </a:r>
          </a:p>
        </p:txBody>
      </p:sp>
      <p:pic>
        <p:nvPicPr>
          <p:cNvPr id="7" name="Picture 6" descr="fig_synoptic_analysis.png"/>
          <p:cNvPicPr>
            <a:picLocks noChangeAspect="1"/>
          </p:cNvPicPr>
          <p:nvPr/>
        </p:nvPicPr>
        <p:blipFill>
          <a:blip r:embed="rId2"/>
          <a:stretch>
            <a:fillRect/>
          </a:stretch>
        </p:blipFill>
        <p:spPr>
          <a:xfrm>
            <a:off x="731520" y="1600200"/>
            <a:ext cx="6583680" cy="2881882"/>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38BDF8"/>
                </a:solidFill>
              </a:defRPr>
            </a:pPr>
            <a:r>
              <a:t>Nível Médio (500 hPa) - Forçamento QG:</a:t>
            </a:r>
          </a:p>
          <a:p>
            <a:pPr>
              <a:spcBef>
                <a:spcPts val="200"/>
              </a:spcBef>
              <a:defRPr sz="950">
                <a:solidFill>
                  <a:srgbClr val="F8FAFC"/>
                </a:solidFill>
              </a:defRPr>
            </a:pPr>
            <a:r>
              <a:t>• Cavado de onda curta pronunciado sobre a Argentina/Cordilheira.</a:t>
            </a:r>
          </a:p>
          <a:p>
            <a:pPr>
              <a:spcBef>
                <a:spcPts val="200"/>
              </a:spcBef>
              <a:defRPr sz="950">
                <a:solidFill>
                  <a:srgbClr val="F8FAFC"/>
                </a:solidFill>
              </a:defRPr>
            </a:pPr>
            <a:r>
              <a:t>• Forte difluência de mesoescala a jusante diretamente sobre o RS.</a:t>
            </a:r>
          </a:p>
          <a:p>
            <a:pPr>
              <a:spcBef>
                <a:spcPts val="200"/>
              </a:spcBef>
              <a:defRPr sz="950">
                <a:solidFill>
                  <a:srgbClr val="F8FAFC"/>
                </a:solidFill>
              </a:defRPr>
            </a:pPr>
            <a:r>
              <a:t>• Advecção de Vorticidade Ciclônica Relativa (CVA / PVA) gerando sustentação de larga escala (ω &lt; 0 via Equação Ômega Quase-Geostrófica).</a:t>
            </a:r>
          </a:p>
          <a:p>
            <a:pPr>
              <a:spcBef>
                <a:spcPts val="600"/>
              </a:spcBef>
              <a:defRPr sz="1100" b="1">
                <a:solidFill>
                  <a:srgbClr val="FBBF24"/>
                </a:solidFill>
              </a:defRPr>
            </a:pPr>
            <a:r>
              <a:t>Baixos Níveis (850 hPa) - Alimentação Termodinâmica:</a:t>
            </a:r>
          </a:p>
          <a:p>
            <a:pPr>
              <a:spcBef>
                <a:spcPts val="200"/>
              </a:spcBef>
              <a:defRPr sz="950">
                <a:solidFill>
                  <a:srgbClr val="F8FAFC"/>
                </a:solidFill>
              </a:defRPr>
            </a:pPr>
            <a:r>
              <a:t>• Jato em Baixos Níveis (JBN) da América do Sul ativo com ventos &gt; 23 m/s (44 kt) transportando calor e umidade tropical da Amazônia e Chaco.</a:t>
            </a:r>
          </a:p>
          <a:p>
            <a:pPr>
              <a:spcBef>
                <a:spcPts val="200"/>
              </a:spcBef>
              <a:defRPr sz="950">
                <a:solidFill>
                  <a:srgbClr val="F8FAFC"/>
                </a:solidFill>
              </a:defRPr>
            </a:pPr>
            <a:r>
              <a:t>• Crista pronunciada de θe (&gt; 350 K) focada sobre o centro-oeste e sul do RS.</a:t>
            </a:r>
          </a:p>
          <a:p>
            <a:pPr>
              <a:spcBef>
                <a:spcPts val="200"/>
              </a:spcBef>
              <a:defRPr sz="950">
                <a:solidFill>
                  <a:srgbClr val="F8FAFC"/>
                </a:solidFill>
              </a:defRPr>
            </a:pPr>
            <a:r>
              <a:t>• Convergência de massa e umidade (∇·(qV) &lt; 0) desestabilizando a camada limite.</a:t>
            </a:r>
          </a:p>
          <a:p>
            <a:pPr>
              <a:spcBef>
                <a:spcPts val="600"/>
              </a:spcBef>
              <a:defRPr sz="1100" b="1">
                <a:solidFill>
                  <a:srgbClr val="34D399"/>
                </a:solidFill>
              </a:defRPr>
            </a:pPr>
            <a:r>
              <a:t>Acoplamento Vertical:</a:t>
            </a:r>
          </a:p>
          <a:p>
            <a:pPr>
              <a:spcBef>
                <a:spcPts val="200"/>
              </a:spcBef>
              <a:defRPr sz="950">
                <a:solidFill>
                  <a:srgbClr val="F8FAFC"/>
                </a:solidFill>
              </a:defRPr>
            </a:pPr>
            <a:r>
              <a:t>• Sobreposição de suporte dinâmico aloft e convergência térmica em baixos níveis, preparando o ambiente para convecção profunda explosiva.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03 - 07 min  |  Slide 3/10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Evolução Temporal: Comparação das 3 Sondagens</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Transição Atmosférica em Porto Alegre: Pós-Frontal Estável (12/12) ➔ Neutro/Transição (23/12) ➔ Explosivo Severo (24/12)</a:t>
            </a:r>
          </a:p>
        </p:txBody>
      </p:sp>
      <p:pic>
        <p:nvPicPr>
          <p:cNvPr id="7" name="Picture 6" descr="fig_3_soundings_skewt.png"/>
          <p:cNvPicPr>
            <a:picLocks noChangeAspect="1"/>
          </p:cNvPicPr>
          <p:nvPr/>
        </p:nvPicPr>
        <p:blipFill>
          <a:blip r:embed="rId2"/>
          <a:stretch>
            <a:fillRect/>
          </a:stretch>
        </p:blipFill>
        <p:spPr>
          <a:xfrm>
            <a:off x="731520" y="1600200"/>
            <a:ext cx="10744200" cy="4134950"/>
          </a:xfrm>
          <a:prstGeom prst="rect">
            <a:avLst/>
          </a:prstGeom>
        </p:spPr>
      </p:pic>
      <p:sp>
        <p:nvSpPr>
          <p:cNvPr id="8" name="Rounded Rectangle 7"/>
          <p:cNvSpPr/>
          <p:nvPr/>
        </p:nvSpPr>
        <p:spPr>
          <a:xfrm>
            <a:off x="731520" y="5303520"/>
            <a:ext cx="10744200" cy="109728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49240"/>
            <a:ext cx="10469880" cy="1005840"/>
          </a:xfrm>
          <a:prstGeom prst="rect">
            <a:avLst/>
          </a:prstGeom>
          <a:noFill/>
        </p:spPr>
        <p:txBody>
          <a:bodyPr wrap="square">
            <a:spAutoFit/>
          </a:bodyPr>
          <a:lstStyle/>
          <a:p>
            <a:pPr>
              <a:defRPr sz="1050" b="1">
                <a:solidFill>
                  <a:srgbClr val="FBBF24"/>
                </a:solidFill>
              </a:defRPr>
            </a:pPr>
            <a:r>
              <a:t>Síntese Física da Evolução Sinótica das Sondagens da Universidade de Wyoming:</a:t>
            </a:r>
          </a:p>
          <a:p>
            <a:pPr>
              <a:spcBef>
                <a:spcPts val="200"/>
              </a:spcBef>
              <a:defRPr sz="950">
                <a:solidFill>
                  <a:srgbClr val="F8FAFC"/>
                </a:solidFill>
              </a:defRPr>
            </a:pPr>
            <a:r>
              <a:t>12/12/1995 (Estável): Subsidência pós-frontal anticiclônica, atmosfera seca em médios níveis (T-Td &gt; 15°C), CAPE = 0 J/kg, ar estável.</a:t>
            </a:r>
            <a:br/>
            <a:r>
              <a:t>23/12/1995 (Neutro/Transição): Retorno do fluxo de norte, umedecimento da coluna, CAPE moderado (848 J/kg), CIN significativo (-120 J/kg).</a:t>
            </a:r>
            <a:br/>
            <a:r>
              <a:t>24/12/1995 (Severo): Rompimento de barreira por advecção quente em 925 hPa (T=30°C, Td=25°C), MUCAPE = 4.645 J/kg, CIN = -6.5 J/kg.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03 - 07 min  |  Slide 4/10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Diagnóstico Termodinâmico: Flutuabilidade &amp; Instabilidade Potencial</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Interpretação Física das Integrais de CAPE/CIN, Níveis Críticos (LCL, LFC, EL) e ∂θe/∂z &lt; 0</a:t>
            </a:r>
          </a:p>
        </p:txBody>
      </p:sp>
      <p:pic>
        <p:nvPicPr>
          <p:cNvPr id="7" name="Picture 6" descr="fig_colab_severe_skewt.png"/>
          <p:cNvPicPr>
            <a:picLocks noChangeAspect="1"/>
          </p:cNvPicPr>
          <p:nvPr/>
        </p:nvPicPr>
        <p:blipFill>
          <a:blip r:embed="rId2"/>
          <a:stretch>
            <a:fillRect/>
          </a:stretch>
        </p:blipFill>
        <p:spPr>
          <a:xfrm>
            <a:off x="731520" y="1600200"/>
            <a:ext cx="6583680" cy="3948606"/>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F87171"/>
                </a:solidFill>
              </a:defRPr>
            </a:pPr>
            <a:r>
              <a:t>Definição Física do CAPE e CIN:</a:t>
            </a:r>
          </a:p>
          <a:p>
            <a:pPr>
              <a:spcBef>
                <a:spcPts val="200"/>
              </a:spcBef>
              <a:defRPr sz="950">
                <a:solidFill>
                  <a:srgbClr val="F8FAFC"/>
                </a:solidFill>
              </a:defRPr>
            </a:pPr>
            <a:r>
              <a:t>• CAPE = ∫ [g · (Tv,p - Tv,e) / Tv,e] dz  (entre LFC e EL).</a:t>
            </a:r>
          </a:p>
          <a:p>
            <a:pPr>
              <a:spcBef>
                <a:spcPts val="200"/>
              </a:spcBef>
              <a:defRPr sz="950">
                <a:solidFill>
                  <a:srgbClr val="F8FAFC"/>
                </a:solidFill>
              </a:defRPr>
            </a:pPr>
            <a:r>
              <a:t>• MUCAPE: 4.645 J/kg | SBCAPE: 1.862 J/kg.</a:t>
            </a:r>
          </a:p>
          <a:p>
            <a:pPr>
              <a:spcBef>
                <a:spcPts val="200"/>
              </a:spcBef>
              <a:defRPr sz="950">
                <a:solidFill>
                  <a:srgbClr val="F8FAFC"/>
                </a:solidFill>
              </a:defRPr>
            </a:pPr>
            <a:r>
              <a:t>• W_max teórico = √(2 · CAPE) ≈ 96.4 m/s (corrente ascendente explosiva, limitada por arrasto e entranhamento).</a:t>
            </a:r>
          </a:p>
          <a:p>
            <a:pPr>
              <a:spcBef>
                <a:spcPts val="600"/>
              </a:spcBef>
              <a:defRPr sz="1100" b="1">
                <a:solidFill>
                  <a:srgbClr val="38BDF8"/>
                </a:solidFill>
              </a:defRPr>
            </a:pPr>
            <a:r>
              <a:t>Níveis Convectivos Fundamentais:</a:t>
            </a:r>
          </a:p>
          <a:p>
            <a:pPr>
              <a:spcBef>
                <a:spcPts val="200"/>
              </a:spcBef>
              <a:defRPr sz="950">
                <a:solidFill>
                  <a:srgbClr val="F8FAFC"/>
                </a:solidFill>
              </a:defRPr>
            </a:pPr>
            <a:r>
              <a:t>• LCL (Condensação por Levantamento): 942 hPa (~600 m). Nuvens com base muito baixa.</a:t>
            </a:r>
          </a:p>
          <a:p>
            <a:pPr>
              <a:spcBef>
                <a:spcPts val="200"/>
              </a:spcBef>
              <a:defRPr sz="950">
                <a:solidFill>
                  <a:srgbClr val="F8FAFC"/>
                </a:solidFill>
              </a:defRPr>
            </a:pPr>
            <a:r>
              <a:t>• LFC (Convecção Livre): Imediato para parcela de 925 hPa; CIN insignificante (-6.5 J/kg).</a:t>
            </a:r>
          </a:p>
          <a:p>
            <a:pPr>
              <a:spcBef>
                <a:spcPts val="200"/>
              </a:spcBef>
              <a:defRPr sz="950">
                <a:solidFill>
                  <a:srgbClr val="F8FAFC"/>
                </a:solidFill>
              </a:defRPr>
            </a:pPr>
            <a:r>
              <a:t>• EL (Equilíbrio Térmico): 165 hPa (~13.8 km), topo de nuvem penetrando a tropopausa.</a:t>
            </a:r>
          </a:p>
          <a:p>
            <a:pPr>
              <a:spcBef>
                <a:spcPts val="600"/>
              </a:spcBef>
              <a:defRPr sz="1100" b="1">
                <a:solidFill>
                  <a:srgbClr val="34D399"/>
                </a:solidFill>
              </a:defRPr>
            </a:pPr>
            <a:r>
              <a:t>Critério de Instabilidade Potencial / Convectiva:</a:t>
            </a:r>
          </a:p>
          <a:p>
            <a:pPr>
              <a:spcBef>
                <a:spcPts val="200"/>
              </a:spcBef>
              <a:defRPr sz="950">
                <a:solidFill>
                  <a:srgbClr val="F8FAFC"/>
                </a:solidFill>
              </a:defRPr>
            </a:pPr>
            <a:r>
              <a:t>• ∂θe / ∂z &lt; 0 presente desde a superfície até 650 hPa.</a:t>
            </a:r>
          </a:p>
          <a:p>
            <a:pPr>
              <a:spcBef>
                <a:spcPts val="200"/>
              </a:spcBef>
              <a:defRPr sz="950">
                <a:solidFill>
                  <a:srgbClr val="F8FAFC"/>
                </a:solidFill>
              </a:defRPr>
            </a:pPr>
            <a:r>
              <a:t>• Se uma camada com essa propriedade for forçada a subir em bloco até a saturação, torna-se fortemente instável para parcelas individuais.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07 - 10 min  |  Slide 5/10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Teoria de Emanuel (1994) &amp; Temperatura de Densidade (Tρ)</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Resultados do wyoming.f / tcon.py - Water Loading (-rl) e Comparação com MIT OCW 12.811</a:t>
            </a:r>
          </a:p>
        </p:txBody>
      </p:sp>
      <p:pic>
        <p:nvPicPr>
          <p:cNvPr id="7" name="Picture 6" descr="tcon_comparacao_emanuel.png"/>
          <p:cNvPicPr>
            <a:picLocks noChangeAspect="1"/>
          </p:cNvPicPr>
          <p:nvPr/>
        </p:nvPicPr>
        <p:blipFill>
          <a:blip r:embed="rId2"/>
          <a:stretch>
            <a:fillRect/>
          </a:stretch>
        </p:blipFill>
        <p:spPr>
          <a:xfrm>
            <a:off x="731520" y="1600200"/>
            <a:ext cx="6583680" cy="2880360"/>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38BDF8"/>
                </a:solidFill>
              </a:defRPr>
            </a:pPr>
            <a:r>
              <a:t>Fundamentação Teórica - Kerry Emanuel (1994):</a:t>
            </a:r>
          </a:p>
          <a:p>
            <a:pPr>
              <a:spcBef>
                <a:spcPts val="200"/>
              </a:spcBef>
              <a:defRPr sz="950">
                <a:solidFill>
                  <a:srgbClr val="F8FAFC"/>
                </a:solidFill>
              </a:defRPr>
            </a:pPr>
            <a:r>
              <a:t>• Referência: Kerry Emanuel (1994), 'Atmospheric Convection', Oxford Univ. Press (Cap. 2 e 6).</a:t>
            </a:r>
          </a:p>
          <a:p>
            <a:pPr>
              <a:spcBef>
                <a:spcPts val="200"/>
              </a:spcBef>
              <a:defRPr sz="950">
                <a:solidFill>
                  <a:srgbClr val="F8FAFC"/>
                </a:solidFill>
              </a:defRPr>
            </a:pPr>
            <a:r>
              <a:t>• Disciplina de pós-graduação do MIT: MIT OCW 12.811.</a:t>
            </a:r>
          </a:p>
          <a:p>
            <a:pPr>
              <a:spcBef>
                <a:spcPts val="200"/>
              </a:spcBef>
              <a:defRPr sz="950">
                <a:solidFill>
                  <a:srgbClr val="F8FAFC"/>
                </a:solidFill>
              </a:defRPr>
            </a:pPr>
            <a:r>
              <a:t>• Código de referência da comunidade: wyoming.f / tcon.m reimplementado em Python (wyoming.py / tcon.py).</a:t>
            </a:r>
          </a:p>
          <a:p>
            <a:pPr>
              <a:spcBef>
                <a:spcPts val="600"/>
              </a:spcBef>
              <a:defRPr sz="1100" b="1">
                <a:solidFill>
                  <a:srgbClr val="FBBF24"/>
                </a:solidFill>
              </a:defRPr>
            </a:pPr>
            <a:r>
              <a:t>Temperatura de Densidade (Tρ):</a:t>
            </a:r>
          </a:p>
          <a:p>
            <a:pPr>
              <a:spcBef>
                <a:spcPts val="200"/>
              </a:spcBef>
              <a:defRPr sz="950">
                <a:solidFill>
                  <a:srgbClr val="F8FAFC"/>
                </a:solidFill>
              </a:defRPr>
            </a:pPr>
            <a:r>
              <a:t>• Tρ = T · (1 + rv/ε) / (1 + rv + rl) ≈ Tv · (1 - rl)</a:t>
            </a:r>
          </a:p>
          <a:p>
            <a:pPr>
              <a:spcBef>
                <a:spcPts val="200"/>
              </a:spcBef>
              <a:defRPr sz="950">
                <a:solidFill>
                  <a:srgbClr val="F8FAFC"/>
                </a:solidFill>
              </a:defRPr>
            </a:pPr>
            <a:r>
              <a:t>• Incorpora o peso da água líquida condensada suspensa na parcela (efeito de Water Loading, -rl).</a:t>
            </a:r>
          </a:p>
          <a:p>
            <a:pPr>
              <a:spcBef>
                <a:spcPts val="600"/>
              </a:spcBef>
              <a:defRPr sz="1100" b="1">
                <a:solidFill>
                  <a:srgbClr val="34D399"/>
                </a:solidFill>
              </a:defRPr>
            </a:pPr>
            <a:r>
              <a:t>Reversível vs Pseudoadiabático:</a:t>
            </a:r>
          </a:p>
          <a:p>
            <a:pPr>
              <a:spcBef>
                <a:spcPts val="200"/>
              </a:spcBef>
              <a:defRPr sz="950">
                <a:solidFill>
                  <a:srgbClr val="F8FAFC"/>
                </a:solidFill>
              </a:defRPr>
            </a:pPr>
            <a:r>
              <a:t>• Reversível (Tρ,rev): Todo o condensado é mantido suspenso. O peso da água reduz o empuxo. CAPE_rev = 3.832 J/kg (origem 925 hPa).</a:t>
            </a:r>
          </a:p>
          <a:p>
            <a:pPr>
              <a:spcBef>
                <a:spcPts val="200"/>
              </a:spcBef>
              <a:defRPr sz="950">
                <a:solidFill>
                  <a:srgbClr val="F8FAFC"/>
                </a:solidFill>
              </a:defRPr>
            </a:pPr>
            <a:r>
              <a:t>• Pseudoadiabático (Tv,pse): Condensado precipita instantaneamente (rl = 0). Empuxo máximo. CAPE_pse = 4.172 J/kg.</a:t>
            </a:r>
          </a:p>
          <a:p>
            <a:pPr>
              <a:spcBef>
                <a:spcPts val="200"/>
              </a:spcBef>
              <a:defRPr sz="950">
                <a:solidFill>
                  <a:srgbClr val="F8FAFC"/>
                </a:solidFill>
              </a:defRPr>
            </a:pPr>
            <a:r>
              <a:t>• Diferença por Water Loading: ΔCAPE = 340 J/kg (~8.2% de atenuação da flutuabilidade).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10 - 14 min  |  Slide 6/10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Variáveis do Capítulo 2: Perfis Térmicos &amp; Frequência de Brunt-Väisälä</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Estabilidade Estática, Ondas de Gravidade na Troposfera e o Efeito Capping Lid (Inversão Tampa)</a:t>
            </a:r>
          </a:p>
        </p:txBody>
      </p:sp>
      <p:pic>
        <p:nvPicPr>
          <p:cNvPr id="7" name="Picture 6" descr="fig_cap2_profiles.png"/>
          <p:cNvPicPr>
            <a:picLocks noChangeAspect="1"/>
          </p:cNvPicPr>
          <p:nvPr/>
        </p:nvPicPr>
        <p:blipFill>
          <a:blip r:embed="rId2"/>
          <a:stretch>
            <a:fillRect/>
          </a:stretch>
        </p:blipFill>
        <p:spPr>
          <a:xfrm>
            <a:off x="731520" y="1600200"/>
            <a:ext cx="6583680" cy="3180546"/>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38BDF8"/>
                </a:solidFill>
              </a:defRPr>
            </a:pPr>
            <a:r>
              <a:t>Temperatura Potencial Virtual (θv):</a:t>
            </a:r>
          </a:p>
          <a:p>
            <a:pPr>
              <a:spcBef>
                <a:spcPts val="200"/>
              </a:spcBef>
              <a:defRPr sz="950">
                <a:solidFill>
                  <a:srgbClr val="F8FAFC"/>
                </a:solidFill>
              </a:defRPr>
            </a:pPr>
            <a:r>
              <a:t>• θv = θ · (1 + 0.608 q - ql)</a:t>
            </a:r>
          </a:p>
          <a:p>
            <a:pPr>
              <a:spcBef>
                <a:spcPts val="200"/>
              </a:spcBef>
              <a:defRPr sz="950">
                <a:solidFill>
                  <a:srgbClr val="F8FAFC"/>
                </a:solidFill>
              </a:defRPr>
            </a:pPr>
            <a:r>
              <a:t>• Incorpora a densidade dos gases úmidos, sendo a variável canônica para o empuxo térmico na atmosfera seca e sub-saturada.</a:t>
            </a:r>
          </a:p>
          <a:p>
            <a:pPr>
              <a:spcBef>
                <a:spcPts val="600"/>
              </a:spcBef>
              <a:defRPr sz="1100" b="1">
                <a:solidFill>
                  <a:srgbClr val="A78BFA"/>
                </a:solidFill>
              </a:defRPr>
            </a:pPr>
            <a:r>
              <a:t>Frequência de Brunt-Väisälä (N²):</a:t>
            </a:r>
          </a:p>
          <a:p>
            <a:pPr>
              <a:spcBef>
                <a:spcPts val="200"/>
              </a:spcBef>
              <a:defRPr sz="950">
                <a:solidFill>
                  <a:srgbClr val="F8FAFC"/>
                </a:solidFill>
              </a:defRPr>
            </a:pPr>
            <a:r>
              <a:t>• N² = (g / θv) · (∂θv / ∂z)</a:t>
            </a:r>
          </a:p>
          <a:p>
            <a:pPr>
              <a:spcBef>
                <a:spcPts val="200"/>
              </a:spcBef>
              <a:defRPr sz="950">
                <a:solidFill>
                  <a:srgbClr val="F8FAFC"/>
                </a:solidFill>
              </a:defRPr>
            </a:pPr>
            <a:r>
              <a:t>• N² &gt; 0: Frequência de oscilação estável de ondas de gravidade (período τ = 2π / N).</a:t>
            </a:r>
          </a:p>
          <a:p>
            <a:pPr>
              <a:spcBef>
                <a:spcPts val="200"/>
              </a:spcBef>
              <a:defRPr sz="950">
                <a:solidFill>
                  <a:srgbClr val="F8FAFC"/>
                </a:solidFill>
              </a:defRPr>
            </a:pPr>
            <a:r>
              <a:t>• N² &lt; 0: Instabilidade hidrostática pura.</a:t>
            </a:r>
          </a:p>
          <a:p>
            <a:pPr>
              <a:spcBef>
                <a:spcPts val="200"/>
              </a:spcBef>
              <a:defRPr sz="950">
                <a:solidFill>
                  <a:srgbClr val="F8FAFC"/>
                </a:solidFill>
              </a:defRPr>
            </a:pPr>
            <a:r>
              <a:t>• Camada média (800-400 hPa): N² moderado (~1.2 × 10⁻⁴ s⁻²), permitindo propagação vertical de energia.</a:t>
            </a:r>
          </a:p>
          <a:p>
            <a:pPr>
              <a:spcBef>
                <a:spcPts val="600"/>
              </a:spcBef>
              <a:defRPr sz="1100" b="1">
                <a:solidFill>
                  <a:srgbClr val="FBBF24"/>
                </a:solidFill>
              </a:defRPr>
            </a:pPr>
            <a:r>
              <a:t>O 'Capping Lid' em 925-900 hPa:</a:t>
            </a:r>
          </a:p>
          <a:p>
            <a:pPr>
              <a:spcBef>
                <a:spcPts val="200"/>
              </a:spcBef>
              <a:defRPr sz="950">
                <a:solidFill>
                  <a:srgbClr val="F8FAFC"/>
                </a:solidFill>
              </a:defRPr>
            </a:pPr>
            <a:r>
              <a:t>• Pico expressivo de N² (~4.5 × 10⁻⁴ s⁻²) logo acima do topo da CLP.</a:t>
            </a:r>
          </a:p>
          <a:p>
            <a:pPr>
              <a:spcBef>
                <a:spcPts val="200"/>
              </a:spcBef>
              <a:defRPr sz="950">
                <a:solidFill>
                  <a:srgbClr val="F8FAFC"/>
                </a:solidFill>
              </a:defRPr>
            </a:pPr>
            <a:r>
              <a:t>• Função física de 'tampa de panela de pressão': impede que o ar úmido e quente escape prematuramente em convecções rasas.</a:t>
            </a:r>
          </a:p>
          <a:p>
            <a:pPr>
              <a:spcBef>
                <a:spcPts val="200"/>
              </a:spcBef>
              <a:defRPr sz="950">
                <a:solidFill>
                  <a:srgbClr val="F8FAFC"/>
                </a:solidFill>
              </a:defRPr>
            </a:pPr>
            <a:r>
              <a:t>• Permite acumular 4.600 J/kg de energia até o forçamento sinótico romper a inversão de forma explosiva.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10 - 14 min  |  Slide 7/10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Umidade Troposférica &amp; Potencial de Downbursts</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Razão de Mistura r(z), Água Precipitável (PW) e Downdraft CAPE (DCAPE) via Resfriamento Evaporativo</a:t>
            </a:r>
          </a:p>
        </p:txBody>
      </p:sp>
      <p:pic>
        <p:nvPicPr>
          <p:cNvPr id="7" name="Picture 6" descr="diagnostico_mesoescala.png"/>
          <p:cNvPicPr>
            <a:picLocks noChangeAspect="1"/>
          </p:cNvPicPr>
          <p:nvPr/>
        </p:nvPicPr>
        <p:blipFill>
          <a:blip r:embed="rId2"/>
          <a:stretch>
            <a:fillRect/>
          </a:stretch>
        </p:blipFill>
        <p:spPr>
          <a:xfrm>
            <a:off x="731520" y="1600200"/>
            <a:ext cx="6583680" cy="4937760"/>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38BDF8"/>
                </a:solidFill>
              </a:defRPr>
            </a:pPr>
            <a:r>
              <a:t>Razão de Mistura Extrema (r):</a:t>
            </a:r>
          </a:p>
          <a:p>
            <a:pPr>
              <a:spcBef>
                <a:spcPts val="200"/>
              </a:spcBef>
              <a:defRPr sz="950">
                <a:solidFill>
                  <a:srgbClr val="F8FAFC"/>
                </a:solidFill>
              </a:defRPr>
            </a:pPr>
            <a:r>
              <a:t>• Superfície: r = 18.0 g/kg.</a:t>
            </a:r>
          </a:p>
          <a:p>
            <a:pPr>
              <a:spcBef>
                <a:spcPts val="200"/>
              </a:spcBef>
              <a:defRPr sz="950">
                <a:solidFill>
                  <a:srgbClr val="F8FAFC"/>
                </a:solidFill>
              </a:defRPr>
            </a:pPr>
            <a:r>
              <a:t>• Pico do JBN (925 hPa): r = 22.02 g/kg (valor excepcional para o Sul do Brasil, característico de massas equatoriais).</a:t>
            </a:r>
          </a:p>
          <a:p>
            <a:pPr>
              <a:spcBef>
                <a:spcPts val="200"/>
              </a:spcBef>
              <a:defRPr sz="950">
                <a:solidFill>
                  <a:srgbClr val="F8FAFC"/>
                </a:solidFill>
              </a:defRPr>
            </a:pPr>
            <a:r>
              <a:t>• Decaimento abrupto acima de 700 hPa, criando contraste com ar seco em médios níveis.</a:t>
            </a:r>
          </a:p>
          <a:p>
            <a:pPr>
              <a:spcBef>
                <a:spcPts val="600"/>
              </a:spcBef>
              <a:defRPr sz="1100" b="1">
                <a:solidFill>
                  <a:srgbClr val="34D399"/>
                </a:solidFill>
              </a:defRPr>
            </a:pPr>
            <a:r>
              <a:t>Água Precipitável Total (PW):</a:t>
            </a:r>
          </a:p>
          <a:p>
            <a:pPr>
              <a:spcBef>
                <a:spcPts val="200"/>
              </a:spcBef>
              <a:defRPr sz="950">
                <a:solidFill>
                  <a:srgbClr val="F8FAFC"/>
                </a:solidFill>
              </a:defRPr>
            </a:pPr>
            <a:r>
              <a:t>• PW = (1/g) ∫ q dp = 52.4 mm.</a:t>
            </a:r>
          </a:p>
          <a:p>
            <a:pPr>
              <a:spcBef>
                <a:spcPts val="200"/>
              </a:spcBef>
              <a:defRPr sz="950">
                <a:solidFill>
                  <a:srgbClr val="F8FAFC"/>
                </a:solidFill>
              </a:defRPr>
            </a:pPr>
            <a:r>
              <a:t>• Percentil &gt; 95% para Porto Alegre no mês de dezembro.</a:t>
            </a:r>
          </a:p>
          <a:p>
            <a:pPr>
              <a:spcBef>
                <a:spcPts val="200"/>
              </a:spcBef>
              <a:defRPr sz="950">
                <a:solidFill>
                  <a:srgbClr val="F8FAFC"/>
                </a:solidFill>
              </a:defRPr>
            </a:pPr>
            <a:r>
              <a:t>• Indica alto potencial de precipitação torrencial horária (&gt; 60 mm/h) e inundações repentinas.</a:t>
            </a:r>
          </a:p>
          <a:p>
            <a:pPr>
              <a:spcBef>
                <a:spcPts val="600"/>
              </a:spcBef>
              <a:defRPr sz="1100" b="1">
                <a:solidFill>
                  <a:srgbClr val="F87171"/>
                </a:solidFill>
              </a:defRPr>
            </a:pPr>
            <a:r>
              <a:t>Downdraft CAPE (DCAPE = 1.149 J/kg):</a:t>
            </a:r>
          </a:p>
          <a:p>
            <a:pPr>
              <a:spcBef>
                <a:spcPts val="200"/>
              </a:spcBef>
              <a:defRPr sz="950">
                <a:solidFill>
                  <a:srgbClr val="F8FAFC"/>
                </a:solidFill>
              </a:defRPr>
            </a:pPr>
            <a:r>
              <a:t>• Medida do empuxo negativo gerado pelo resfriamento evaporativo da chuva em ar não saturado a 650 hPa.</a:t>
            </a:r>
          </a:p>
          <a:p>
            <a:pPr>
              <a:spcBef>
                <a:spcPts val="200"/>
              </a:spcBef>
              <a:defRPr sz="950">
                <a:solidFill>
                  <a:srgbClr val="F8FAFC"/>
                </a:solidFill>
              </a:defRPr>
            </a:pPr>
            <a:r>
              <a:t>• Velocidade teórica da descendente: W_down = √(2 · DCAPE) ≈ 47.9 m/s (~172 km/h).</a:t>
            </a:r>
          </a:p>
          <a:p>
            <a:pPr>
              <a:spcBef>
                <a:spcPts val="200"/>
              </a:spcBef>
              <a:defRPr sz="950">
                <a:solidFill>
                  <a:srgbClr val="F8FAFC"/>
                </a:solidFill>
              </a:defRPr>
            </a:pPr>
            <a:r>
              <a:t>• Ambiente altamente propício a Microbursts úmidos e frentes de rajada violentas ao atingir o solo.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14 - 17 min  |  Slide 8/10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Cinemática &amp; Dinâmica: Hodógrafo, JBN e Helicidade (SRH)</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Curvatura do Vento na Baixa Troposfera e Cisalhamento Vertical Suportando Supercélulas de Alta Precipitação</a:t>
            </a:r>
          </a:p>
        </p:txBody>
      </p:sp>
      <p:pic>
        <p:nvPicPr>
          <p:cNvPr id="7" name="Picture 6" descr="fig_kinematics_hodograph.png"/>
          <p:cNvPicPr>
            <a:picLocks noChangeAspect="1"/>
          </p:cNvPicPr>
          <p:nvPr/>
        </p:nvPicPr>
        <p:blipFill>
          <a:blip r:embed="rId2"/>
          <a:stretch>
            <a:fillRect/>
          </a:stretch>
        </p:blipFill>
        <p:spPr>
          <a:xfrm>
            <a:off x="731520" y="1600200"/>
            <a:ext cx="6583680" cy="5860716"/>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FBBF24"/>
                </a:solidFill>
              </a:defRPr>
            </a:pPr>
            <a:r>
              <a:t>Jato em Baixos Níveis (JBN) em 925 hPa:</a:t>
            </a:r>
          </a:p>
          <a:p>
            <a:pPr>
              <a:spcBef>
                <a:spcPts val="200"/>
              </a:spcBef>
              <a:defRPr sz="950">
                <a:solidFill>
                  <a:srgbClr val="F8FAFC"/>
                </a:solidFill>
              </a:defRPr>
            </a:pPr>
            <a:r>
              <a:t>• Vento de 44 nós (23.2 m/s) de direção 60° (ENE).</a:t>
            </a:r>
          </a:p>
          <a:p>
            <a:pPr>
              <a:spcBef>
                <a:spcPts val="200"/>
              </a:spcBef>
              <a:defRPr sz="950">
                <a:solidFill>
                  <a:srgbClr val="F8FAFC"/>
                </a:solidFill>
              </a:defRPr>
            </a:pPr>
            <a:r>
              <a:t>• Gera curvatura anticiclônica proeminente no hodógrafo nos primeiros 1.500 m.</a:t>
            </a:r>
          </a:p>
          <a:p>
            <a:pPr>
              <a:spcBef>
                <a:spcPts val="200"/>
              </a:spcBef>
              <a:defRPr sz="950">
                <a:solidFill>
                  <a:srgbClr val="F8FAFC"/>
                </a:solidFill>
              </a:defRPr>
            </a:pPr>
            <a:r>
              <a:t>• No Hemisfério Sul, giro do vento no sentido horário com a altura favorece supercélulas de rotação ciclônica.</a:t>
            </a:r>
          </a:p>
          <a:p>
            <a:pPr>
              <a:spcBef>
                <a:spcPts val="600"/>
              </a:spcBef>
              <a:defRPr sz="1100" b="1">
                <a:solidFill>
                  <a:srgbClr val="38BDF8"/>
                </a:solidFill>
              </a:defRPr>
            </a:pPr>
            <a:r>
              <a:t>Cisalhamento Vertical Profundo (Bulk Shear 0-6 km):</a:t>
            </a:r>
          </a:p>
          <a:p>
            <a:pPr>
              <a:spcBef>
                <a:spcPts val="200"/>
              </a:spcBef>
              <a:defRPr sz="950">
                <a:solidFill>
                  <a:srgbClr val="F8FAFC"/>
                </a:solidFill>
              </a:defRPr>
            </a:pPr>
            <a:r>
              <a:t>• Magnitude: 28.7 m/s (55.8 nós).</a:t>
            </a:r>
          </a:p>
          <a:p>
            <a:pPr>
              <a:spcBef>
                <a:spcPts val="200"/>
              </a:spcBef>
              <a:defRPr sz="950">
                <a:solidFill>
                  <a:srgbClr val="F8FAFC"/>
                </a:solidFill>
              </a:defRPr>
            </a:pPr>
            <a:r>
              <a:t>• Limiar clássico de supercélulas é &gt; 20 m/s (Markowski &amp; Richardson, 2010).</a:t>
            </a:r>
          </a:p>
          <a:p>
            <a:pPr>
              <a:spcBef>
                <a:spcPts val="200"/>
              </a:spcBef>
              <a:defRPr sz="950">
                <a:solidFill>
                  <a:srgbClr val="F8FAFC"/>
                </a:solidFill>
              </a:defRPr>
            </a:pPr>
            <a:r>
              <a:t>• Garante a separação física entre a corrente ascendente e as correntes descendentes de precipitação.</a:t>
            </a:r>
          </a:p>
          <a:p>
            <a:pPr>
              <a:spcBef>
                <a:spcPts val="600"/>
              </a:spcBef>
              <a:defRPr sz="1100" b="1">
                <a:solidFill>
                  <a:srgbClr val="34D399"/>
                </a:solidFill>
              </a:defRPr>
            </a:pPr>
            <a:r>
              <a:t>Helicidade Relativa à Tempestade (SRH):</a:t>
            </a:r>
          </a:p>
          <a:p>
            <a:pPr>
              <a:spcBef>
                <a:spcPts val="200"/>
              </a:spcBef>
              <a:defRPr sz="950">
                <a:solidFill>
                  <a:srgbClr val="F8FAFC"/>
                </a:solidFill>
              </a:defRPr>
            </a:pPr>
            <a:r>
              <a:t>• SRH 0-1 km: 158 m²/s² | SRH 0-3 km: 245 m²/s².</a:t>
            </a:r>
          </a:p>
          <a:p>
            <a:pPr>
              <a:spcBef>
                <a:spcPts val="200"/>
              </a:spcBef>
              <a:defRPr sz="950">
                <a:solidFill>
                  <a:srgbClr val="F8FAFC"/>
                </a:solidFill>
              </a:defRPr>
            </a:pPr>
            <a:r>
              <a:t>• Valores &gt; 150-200 m²/s² fornecem influxo contínuo de vorticidade streamwise à corrente ascendente.</a:t>
            </a:r>
          </a:p>
          <a:p>
            <a:pPr>
              <a:spcBef>
                <a:spcPts val="200"/>
              </a:spcBef>
              <a:defRPr sz="950">
                <a:solidFill>
                  <a:srgbClr val="F8FAFC"/>
                </a:solidFill>
              </a:defRPr>
            </a:pPr>
            <a:r>
              <a:t>• Bulk Richardson Number: BRN = 34.2 (faixa ideal para supercélulas isoladas e multicélulas severas).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17 - 20 min  |  Slide 9/10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Síntese dos Gatilhos de Mesoescala &amp; Modo Convectivo</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Modelo Conceitual: Supercélula de Alta Precipitação (HP) com Transição para Linha de Instabilidade</a:t>
            </a:r>
          </a:p>
        </p:txBody>
      </p:sp>
      <p:pic>
        <p:nvPicPr>
          <p:cNvPr id="7" name="Picture 6" descr="fig_esquema_supercelula_hp.png"/>
          <p:cNvPicPr>
            <a:picLocks noChangeAspect="1"/>
          </p:cNvPicPr>
          <p:nvPr/>
        </p:nvPicPr>
        <p:blipFill>
          <a:blip r:embed="rId2"/>
          <a:stretch>
            <a:fillRect/>
          </a:stretch>
        </p:blipFill>
        <p:spPr>
          <a:xfrm>
            <a:off x="731520" y="1600200"/>
            <a:ext cx="6583680" cy="4751299"/>
          </a:xfrm>
          <a:prstGeom prst="rect">
            <a:avLst/>
          </a:prstGeom>
        </p:spPr>
      </p:pic>
      <p:sp>
        <p:nvSpPr>
          <p:cNvPr id="8" name="Rounded Rectangle 7"/>
          <p:cNvSpPr/>
          <p:nvPr/>
        </p:nvSpPr>
        <p:spPr>
          <a:xfrm>
            <a:off x="7498079" y="1600200"/>
            <a:ext cx="3977639"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737360"/>
            <a:ext cx="3611880" cy="4434840"/>
          </a:xfrm>
          <a:prstGeom prst="rect">
            <a:avLst/>
          </a:prstGeom>
          <a:noFill/>
        </p:spPr>
        <p:txBody>
          <a:bodyPr wrap="square">
            <a:spAutoFit/>
          </a:bodyPr>
          <a:lstStyle/>
          <a:p>
            <a:pPr>
              <a:spcBef>
                <a:spcPts val="600"/>
              </a:spcBef>
              <a:defRPr sz="1100" b="1">
                <a:solidFill>
                  <a:srgbClr val="38BDF8"/>
                </a:solidFill>
              </a:defRPr>
            </a:pPr>
            <a:r>
              <a:t>Matriz de Gatilhos de Mesoescala:</a:t>
            </a:r>
          </a:p>
          <a:p>
            <a:pPr>
              <a:spcBef>
                <a:spcPts val="200"/>
              </a:spcBef>
              <a:defRPr sz="950">
                <a:solidFill>
                  <a:srgbClr val="F8FAFC"/>
                </a:solidFill>
              </a:defRPr>
            </a:pPr>
            <a:r>
              <a:t>• 1. Gatilho Dinâmico: Difluência e CVA em 500 hPa gerando ascensão sinótica.</a:t>
            </a:r>
          </a:p>
          <a:p>
            <a:pPr>
              <a:spcBef>
                <a:spcPts val="200"/>
              </a:spcBef>
              <a:defRPr sz="950">
                <a:solidFill>
                  <a:srgbClr val="F8FAFC"/>
                </a:solidFill>
              </a:defRPr>
            </a:pPr>
            <a:r>
              <a:t>• 2. Gatilho Termodinâmico: Rompimento do Capping Lid em 925 hPa por aquecimento diurno e convergência no JBN.</a:t>
            </a:r>
          </a:p>
          <a:p>
            <a:pPr>
              <a:spcBef>
                <a:spcPts val="200"/>
              </a:spcBef>
              <a:defRPr sz="950">
                <a:solidFill>
                  <a:srgbClr val="F8FAFC"/>
                </a:solidFill>
              </a:defRPr>
            </a:pPr>
            <a:r>
              <a:t>• 3. Fonte de Umidade: Fluxo de θe &gt; 350 K e r = 22 g/kg suprido ininterruptamente.</a:t>
            </a:r>
          </a:p>
          <a:p>
            <a:pPr>
              <a:spcBef>
                <a:spcPts val="600"/>
              </a:spcBef>
              <a:defRPr sz="1100" b="1">
                <a:solidFill>
                  <a:srgbClr val="F87171"/>
                </a:solidFill>
              </a:defRPr>
            </a:pPr>
            <a:r>
              <a:t>Classificação do Modo Convectivo:</a:t>
            </a:r>
          </a:p>
          <a:p>
            <a:pPr>
              <a:spcBef>
                <a:spcPts val="200"/>
              </a:spcBef>
              <a:defRPr sz="950">
                <a:solidFill>
                  <a:srgbClr val="F8FAFC"/>
                </a:solidFill>
              </a:defRPr>
            </a:pPr>
            <a:r>
              <a:t>• Alto CAPE (&gt; 3.800 J/kg) + Alto Cisalhamento 0-6 km (28.7 m/s) = Supercélula.</a:t>
            </a:r>
          </a:p>
          <a:p>
            <a:pPr>
              <a:spcBef>
                <a:spcPts val="200"/>
              </a:spcBef>
              <a:defRPr sz="950">
                <a:solidFill>
                  <a:srgbClr val="F8FAFC"/>
                </a:solidFill>
              </a:defRPr>
            </a:pPr>
            <a:r>
              <a:t>• PW Extremo (52.4 mm) + Alto DCAPE (1.149 J/kg) = Subtipo de Alta Precipitação (HP Supercell).</a:t>
            </a:r>
          </a:p>
          <a:p>
            <a:pPr>
              <a:spcBef>
                <a:spcPts val="200"/>
              </a:spcBef>
              <a:defRPr sz="950">
                <a:solidFill>
                  <a:srgbClr val="F8FAFC"/>
                </a:solidFill>
              </a:defRPr>
            </a:pPr>
            <a:r>
              <a:t>• O mesociclone fica envolto por cortinas pesadas de chuva torrencial e granizo.</a:t>
            </a:r>
          </a:p>
          <a:p>
            <a:pPr>
              <a:spcBef>
                <a:spcPts val="600"/>
              </a:spcBef>
              <a:defRPr sz="1100" b="1">
                <a:solidFill>
                  <a:srgbClr val="FBBF24"/>
                </a:solidFill>
              </a:defRPr>
            </a:pPr>
            <a:r>
              <a:t>Evolução para Linha de Instabilidade:</a:t>
            </a:r>
          </a:p>
          <a:p>
            <a:pPr>
              <a:spcBef>
                <a:spcPts val="200"/>
              </a:spcBef>
              <a:defRPr sz="950">
                <a:solidFill>
                  <a:srgbClr val="F8FAFC"/>
                </a:solidFill>
              </a:defRPr>
            </a:pPr>
            <a:r>
              <a:t>• O alto DCAPE gera piscinas frias (cold pools) densas e frentes de rajada vigorosas.</a:t>
            </a:r>
          </a:p>
          <a:p>
            <a:pPr>
              <a:spcBef>
                <a:spcPts val="200"/>
              </a:spcBef>
              <a:defRPr sz="950">
                <a:solidFill>
                  <a:srgbClr val="F8FAFC"/>
                </a:solidFill>
              </a:defRPr>
            </a:pPr>
            <a:r>
              <a:t>• A rápida coalescência das piscinas frias promove a transição da supercélula para Linha de Instabilidade / CCM em poucas horas.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6858000" cy="365760"/>
          </a:xfrm>
          <a:prstGeom prst="rect">
            <a:avLst/>
          </a:prstGeom>
          <a:noFill/>
        </p:spPr>
        <p:txBody>
          <a:bodyPr wrap="square" lIns="0" tIns="0" rIns="0" bIns="0">
            <a:spAutoFit/>
          </a:bodyPr>
          <a:lstStyle/>
          <a:p>
            <a:pPr>
              <a:defRPr sz="950" b="1">
                <a:solidFill>
                  <a:srgbClr val="38BDF8"/>
                </a:solidFill>
              </a:defRPr>
            </a:pPr>
            <a:r>
              <a:t>UFSC  •  FSC7116 METEOROLOGIA DE MESOESCALA  •  PROF. REINALDO HAAS</a:t>
            </a:r>
          </a:p>
        </p:txBody>
      </p:sp>
      <p:sp>
        <p:nvSpPr>
          <p:cNvPr id="4" name="Rounded Rectangle 3"/>
          <p:cNvSpPr/>
          <p:nvPr/>
        </p:nvSpPr>
        <p:spPr>
          <a:xfrm>
            <a:off x="8961120" y="228600"/>
            <a:ext cx="2514600" cy="384048"/>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50" b="1">
                <a:solidFill>
                  <a:srgbClr val="FBBF24"/>
                </a:solidFill>
              </a:defRPr>
            </a:pPr>
            <a:r>
              <a:t>⏱️  17 - 20 min  |  Slide 10/10</a:t>
            </a:r>
          </a:p>
        </p:txBody>
      </p:sp>
      <p:sp>
        <p:nvSpPr>
          <p:cNvPr id="5" name="TextBox 4"/>
          <p:cNvSpPr txBox="1"/>
          <p:nvPr/>
        </p:nvSpPr>
        <p:spPr>
          <a:xfrm>
            <a:off x="731520" y="621792"/>
            <a:ext cx="10789920" cy="548640"/>
          </a:xfrm>
          <a:prstGeom prst="rect">
            <a:avLst/>
          </a:prstGeom>
          <a:noFill/>
        </p:spPr>
        <p:txBody>
          <a:bodyPr wrap="square" lIns="0" tIns="0" rIns="0" bIns="0">
            <a:spAutoFit/>
          </a:bodyPr>
          <a:lstStyle/>
          <a:p>
            <a:pPr>
              <a:defRPr sz="2000" b="1">
                <a:solidFill>
                  <a:srgbClr val="F8FAFC"/>
                </a:solidFill>
              </a:defRPr>
            </a:pPr>
            <a:r>
              <a:t>Conclusão &amp; Fechamento para Arguição da Banca</a:t>
            </a:r>
          </a:p>
        </p:txBody>
      </p:sp>
      <p:sp>
        <p:nvSpPr>
          <p:cNvPr id="6" name="TextBox 5"/>
          <p:cNvSpPr txBox="1"/>
          <p:nvPr/>
        </p:nvSpPr>
        <p:spPr>
          <a:xfrm>
            <a:off x="731520" y="1115568"/>
            <a:ext cx="10789920" cy="320040"/>
          </a:xfrm>
          <a:prstGeom prst="rect">
            <a:avLst/>
          </a:prstGeom>
          <a:noFill/>
        </p:spPr>
        <p:txBody>
          <a:bodyPr wrap="square" lIns="0" tIns="0" rIns="0" bIns="0">
            <a:spAutoFit/>
          </a:bodyPr>
          <a:lstStyle/>
          <a:p>
            <a:pPr>
              <a:defRPr sz="1150">
                <a:solidFill>
                  <a:srgbClr val="94A3B8"/>
                </a:solidFill>
              </a:defRPr>
            </a:pPr>
            <a:r>
              <a:t>Resumo Quantitativo dos Parâmetros Diagnósticos, Bibliografia Citada e Abertura para Perguntas</a:t>
            </a:r>
          </a:p>
        </p:txBody>
      </p:sp>
      <p:sp>
        <p:nvSpPr>
          <p:cNvPr id="7" name="Rounded Rectangle 6"/>
          <p:cNvSpPr/>
          <p:nvPr/>
        </p:nvSpPr>
        <p:spPr>
          <a:xfrm>
            <a:off x="731520" y="1600200"/>
            <a:ext cx="5303520"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5029200" cy="4434840"/>
          </a:xfrm>
          <a:prstGeom prst="rect">
            <a:avLst/>
          </a:prstGeom>
          <a:noFill/>
        </p:spPr>
        <p:txBody>
          <a:bodyPr wrap="square">
            <a:spAutoFit/>
          </a:bodyPr>
          <a:lstStyle/>
          <a:p>
            <a:pPr>
              <a:defRPr sz="1150" b="1">
                <a:solidFill>
                  <a:srgbClr val="FBBF24"/>
                </a:solidFill>
              </a:defRPr>
            </a:pPr>
            <a:r>
              <a:t>Tabela Resumo dos Parâmetros Diagnósticos (SBPA):</a:t>
            </a:r>
          </a:p>
          <a:p>
            <a:pPr>
              <a:spcBef>
                <a:spcPts val="300"/>
              </a:spcBef>
              <a:defRPr sz="950">
                <a:solidFill>
                  <a:srgbClr val="F8FAFC"/>
                </a:solidFill>
              </a:defRPr>
            </a:pPr>
            <a:r>
              <a:t>• SBCAPE / MUCAPE: </a:t>
            </a:r>
            <a:r>
              <a:rPr b="1">
                <a:solidFill>
                  <a:srgbClr val="F87171"/>
                </a:solidFill>
              </a:rPr>
              <a:t>1.862 J/kg  /  4.645 J/kg</a:t>
            </a:r>
          </a:p>
          <a:p>
            <a:pPr>
              <a:spcBef>
                <a:spcPts val="300"/>
              </a:spcBef>
              <a:defRPr sz="950">
                <a:solidFill>
                  <a:srgbClr val="F8FAFC"/>
                </a:solidFill>
              </a:defRPr>
            </a:pPr>
            <a:r>
              <a:t>• SBCIN / MUCIN: </a:t>
            </a:r>
            <a:r>
              <a:rPr b="1">
                <a:solidFill>
                  <a:srgbClr val="38BDF8"/>
                </a:solidFill>
              </a:rPr>
              <a:t>-185 J/kg  /  -6.5 J/kg</a:t>
            </a:r>
          </a:p>
          <a:p>
            <a:pPr>
              <a:spcBef>
                <a:spcPts val="300"/>
              </a:spcBef>
              <a:defRPr sz="950">
                <a:solidFill>
                  <a:srgbClr val="F8FAFC"/>
                </a:solidFill>
              </a:defRPr>
            </a:pPr>
            <a:r>
              <a:t>• Emanuel CAPE (Reversível): </a:t>
            </a:r>
            <a:r>
              <a:rPr b="1">
                <a:solidFill>
                  <a:srgbClr val="34D399"/>
                </a:solidFill>
              </a:rPr>
              <a:t>3.832 J/kg (Water Loading: -340 J/kg)</a:t>
            </a:r>
          </a:p>
          <a:p>
            <a:pPr>
              <a:spcBef>
                <a:spcPts val="300"/>
              </a:spcBef>
              <a:defRPr sz="950">
                <a:solidFill>
                  <a:srgbClr val="F8FAFC"/>
                </a:solidFill>
              </a:defRPr>
            </a:pPr>
            <a:r>
              <a:t>• Downdraft CAPE (DCAPE): </a:t>
            </a:r>
            <a:r>
              <a:rPr b="1">
                <a:solidFill>
                  <a:srgbClr val="F87171"/>
                </a:solidFill>
              </a:rPr>
              <a:t>1.149 J/kg  (W_down ≈ 47.9 m/s)</a:t>
            </a:r>
          </a:p>
          <a:p>
            <a:pPr>
              <a:spcBef>
                <a:spcPts val="300"/>
              </a:spcBef>
              <a:defRPr sz="950">
                <a:solidFill>
                  <a:srgbClr val="F8FAFC"/>
                </a:solidFill>
              </a:defRPr>
            </a:pPr>
            <a:r>
              <a:t>• Água Precipitável (PW): </a:t>
            </a:r>
            <a:r>
              <a:rPr b="1">
                <a:solidFill>
                  <a:srgbClr val="38BDF8"/>
                </a:solidFill>
              </a:rPr>
              <a:t>52.4 mm (Percentil &gt; 95%)</a:t>
            </a:r>
          </a:p>
          <a:p>
            <a:pPr>
              <a:spcBef>
                <a:spcPts val="300"/>
              </a:spcBef>
              <a:defRPr sz="950">
                <a:solidFill>
                  <a:srgbClr val="F8FAFC"/>
                </a:solidFill>
              </a:defRPr>
            </a:pPr>
            <a:r>
              <a:t>• Razão de Mistura Máx (925 hPa): </a:t>
            </a:r>
            <a:r>
              <a:rPr b="1">
                <a:solidFill>
                  <a:srgbClr val="38BDF8"/>
                </a:solidFill>
              </a:rPr>
              <a:t>22.02 g/kg (Alimentação pelo JBN)</a:t>
            </a:r>
          </a:p>
          <a:p>
            <a:pPr>
              <a:spcBef>
                <a:spcPts val="300"/>
              </a:spcBef>
              <a:defRPr sz="950">
                <a:solidFill>
                  <a:srgbClr val="F8FAFC"/>
                </a:solidFill>
              </a:defRPr>
            </a:pPr>
            <a:r>
              <a:t>• JBN em 925 hPa: </a:t>
            </a:r>
            <a:r>
              <a:rPr b="1">
                <a:solidFill>
                  <a:srgbClr val="FBBF24"/>
                </a:solidFill>
              </a:rPr>
              <a:t>44 nós (23.2 m/s) de direção 60° (ENE)</a:t>
            </a:r>
          </a:p>
          <a:p>
            <a:pPr>
              <a:spcBef>
                <a:spcPts val="300"/>
              </a:spcBef>
              <a:defRPr sz="950">
                <a:solidFill>
                  <a:srgbClr val="F8FAFC"/>
                </a:solidFill>
              </a:defRPr>
            </a:pPr>
            <a:r>
              <a:t>• Bulk Shear 0-6 km: </a:t>
            </a:r>
            <a:r>
              <a:rPr b="1">
                <a:solidFill>
                  <a:srgbClr val="34D399"/>
                </a:solidFill>
              </a:rPr>
              <a:t>28.7 m/s (55.8 kt) [Supercélulas]</a:t>
            </a:r>
          </a:p>
          <a:p>
            <a:pPr>
              <a:spcBef>
                <a:spcPts val="300"/>
              </a:spcBef>
              <a:defRPr sz="950">
                <a:solidFill>
                  <a:srgbClr val="F8FAFC"/>
                </a:solidFill>
              </a:defRPr>
            </a:pPr>
            <a:r>
              <a:t>• Helicidade SRH 0-3 km: </a:t>
            </a:r>
            <a:r>
              <a:rPr b="1">
                <a:solidFill>
                  <a:srgbClr val="34D399"/>
                </a:solidFill>
              </a:rPr>
              <a:t>245 m²/s² (Rotação Ciclônica no HS)</a:t>
            </a:r>
          </a:p>
          <a:p>
            <a:pPr>
              <a:spcBef>
                <a:spcPts val="300"/>
              </a:spcBef>
              <a:defRPr sz="950">
                <a:solidFill>
                  <a:srgbClr val="F8FAFC"/>
                </a:solidFill>
              </a:defRPr>
            </a:pPr>
            <a:r>
              <a:t>• Bulk Richardson Number (BRN): </a:t>
            </a:r>
            <a:r>
              <a:rPr b="1">
                <a:solidFill>
                  <a:srgbClr val="F8FAFC"/>
                </a:solidFill>
              </a:rPr>
              <a:t>34.2 (Ambiente Supercelular)</a:t>
            </a:r>
          </a:p>
        </p:txBody>
      </p:sp>
      <p:sp>
        <p:nvSpPr>
          <p:cNvPr id="9" name="Rounded Rectangle 8"/>
          <p:cNvSpPr/>
          <p:nvPr/>
        </p:nvSpPr>
        <p:spPr>
          <a:xfrm>
            <a:off x="6217920" y="1600200"/>
            <a:ext cx="5257800" cy="4709160"/>
          </a:xfrm>
          <a:prstGeom prst="roundRect">
            <a:avLst/>
          </a:prstGeom>
          <a:solidFill>
            <a:srgbClr val="131E3A"/>
          </a:solidFill>
          <a:ln w="15240">
            <a:solidFill>
              <a:srgbClr val="2E4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37360"/>
            <a:ext cx="4892040" cy="4434840"/>
          </a:xfrm>
          <a:prstGeom prst="rect">
            <a:avLst/>
          </a:prstGeom>
          <a:noFill/>
        </p:spPr>
        <p:txBody>
          <a:bodyPr wrap="square">
            <a:spAutoFit/>
          </a:bodyPr>
          <a:lstStyle/>
          <a:p>
            <a:pPr>
              <a:defRPr sz="1150" b="1">
                <a:solidFill>
                  <a:srgbClr val="38BDF8"/>
                </a:solidFill>
              </a:defRPr>
            </a:pPr>
            <a:r>
              <a:t>Referências Bibliográficas Obrigatórias:</a:t>
            </a:r>
          </a:p>
          <a:p>
            <a:pPr>
              <a:spcBef>
                <a:spcPts val="200"/>
              </a:spcBef>
              <a:defRPr sz="850">
                <a:solidFill>
                  <a:srgbClr val="94A3B8"/>
                </a:solidFill>
              </a:defRPr>
            </a:pPr>
            <a:r>
              <a:t>• Emanuel, K. A. (1994). Atmospheric Convection. Oxford University Press, 580 pp.</a:t>
            </a:r>
          </a:p>
          <a:p>
            <a:pPr>
              <a:spcBef>
                <a:spcPts val="200"/>
              </a:spcBef>
              <a:defRPr sz="850">
                <a:solidFill>
                  <a:srgbClr val="94A3B8"/>
                </a:solidFill>
              </a:defRPr>
            </a:pPr>
            <a:r>
              <a:t>• MIT OpenCourseWare (Course 12.811). Atmospheric Convection. Massachusetts Institute of Technology.</a:t>
            </a:r>
          </a:p>
          <a:p>
            <a:pPr>
              <a:spcBef>
                <a:spcPts val="200"/>
              </a:spcBef>
              <a:defRPr sz="850">
                <a:solidFill>
                  <a:srgbClr val="94A3B8"/>
                </a:solidFill>
              </a:defRPr>
            </a:pPr>
            <a:r>
              <a:t>• Markowski, P., &amp; Richardson, Y. (2010). Mesoscale Meteorology in Midlatitudes. Wiley-Blackwell, 407 pp.</a:t>
            </a:r>
          </a:p>
          <a:p>
            <a:pPr>
              <a:spcBef>
                <a:spcPts val="200"/>
              </a:spcBef>
              <a:defRPr sz="850">
                <a:solidFill>
                  <a:srgbClr val="94A3B8"/>
                </a:solidFill>
              </a:defRPr>
            </a:pPr>
            <a:r>
              <a:t>• Doswell, C. A. III (2001). Severe Convective Storms. Meteorological Monographs, AMS.</a:t>
            </a:r>
          </a:p>
          <a:p>
            <a:pPr>
              <a:spcBef>
                <a:spcPts val="200"/>
              </a:spcBef>
              <a:defRPr sz="850">
                <a:solidFill>
                  <a:srgbClr val="94A3B8"/>
                </a:solidFill>
              </a:defRPr>
            </a:pPr>
            <a:r>
              <a:t>• MetPy Development Team (2024). MetPy: A Python Package for Meteorological Data.</a:t>
            </a:r>
          </a:p>
          <a:p>
            <a:pPr>
              <a:spcBef>
                <a:spcPts val="1000"/>
              </a:spcBef>
              <a:defRPr sz="1150" b="1">
                <a:solidFill>
                  <a:srgbClr val="34D399"/>
                </a:solidFill>
              </a:defRPr>
            </a:pPr>
            <a:r>
              <a:t>Fechamento &amp; Agradecimentos:</a:t>
            </a:r>
          </a:p>
          <a:p>
            <a:pPr>
              <a:spcBef>
                <a:spcPts val="300"/>
              </a:spcBef>
              <a:defRPr sz="950">
                <a:solidFill>
                  <a:srgbClr val="F8FAFC"/>
                </a:solidFill>
              </a:defRPr>
            </a:pPr>
            <a:r>
              <a:t>Agradeço ao Professor Dr. Reinaldo Haas pela orientação e aos membros da banca examinadora pela atenção.</a:t>
            </a:r>
            <a:br/>
            <a:br/>
            <a:r>
              <a:t>O código-fonte completo (wyoming.py, tcon.py, skewt.py, plot_meso.py e o dashboard interativo) encontra-se disponível no repositório GitHub.</a:t>
            </a:r>
            <a:br/>
            <a:br/>
            <a:r>
              <a:t>Estou à disposição para as perguntas e considerações da banca.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