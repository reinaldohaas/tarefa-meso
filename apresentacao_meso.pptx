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&amp; TUTORIAL DIDÁTICO (00:00 - 01:30):</a:t>
            </a:r>
          </a:p>
          <a:p>
            <a:r>
              <a:t>Bom dia à banca examinadora, ao Professor Reinaldo Haas e aos colegas presentes.</a:t>
            </a:r>
          </a:p>
          <a:p>
            <a:r>
              <a:t>Hoje apresento o seminário de Meteorologia de Mesoescala, concebido como um tutorial metodológico para a análise e diagnóstico de convecção profunda.</a:t>
            </a:r>
          </a:p>
          <a:p/>
          <a:p>
            <a:r>
              <a:t>Conforme a diretriz da disciplina FSC7116, cada aluno deve selecionar obrigatoriamente três radiossondagens atmosféricas reais representando três estados fundamentais: uma atmosfera Estável, uma atmosfera Neutra (ou de transição) e uma atmosfera Instável (tempo severo).</a:t>
            </a:r>
          </a:p>
          <a:p>
            <a:r>
              <a:t>Essas sondagens podem ser escolhidas em datas diferentes na mesma estação — como fizemos aqui para Porto Alegre (SBPA - 83971) em dezembro de 1995 — ou em estações e regiões geográficas diferentes (por exemplo, comparando simultaneamente SBPA, SBFL e SBCT).</a:t>
            </a:r>
          </a:p>
          <a:p/>
          <a:p>
            <a:r>
              <a:t>Nossa apresentação contempla três sondagens e três análises físicas aprofundadas, fundamentadas no clássico 'Atmospheric Convection' de Kerry Emanuel (1994), nas rotinas wyoming.f do MIT OCW 12.811 e na biblioteca científica MetPy.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(01:30 - 03:00):</a:t>
            </a:r>
          </a:p>
          <a:p>
            <a:r>
              <a:t>Passando para a configuração sinótica que sustentou este caso no dia 24 de dezembro de 1995 às 12Z.</a:t>
            </a:r>
          </a:p>
          <a:p>
            <a:r>
              <a:t>À esquerda, temos os mapas sinóticos gerados com a biblioteca Cartopy, incorporando a cartografia real da América do Sul com as divisões de continentes, fronteiras de países (Brasil, Argentina, Uruguai, Paraguai) e divisões estaduais (RS, SC, PR).</a:t>
            </a:r>
          </a:p>
          <a:p>
            <a:r>
              <a:t>Essa divisão geográfica é essencial para visualizar como os Andes canalizam os escoamentos na baixa e média troposfera.</a:t>
            </a:r>
          </a:p>
          <a:p/>
          <a:p>
            <a:r>
              <a:t>Em 500 hPa, observamos um cavado de onda curta bem estruturado sobre a Argentina, estabelecendo uma forte difluência de mesoescala sobre o Rio Grande do Sul. Pela teoria Quase-Geostrófica, a advecção de vorticidade ciclônica relativa positiva (CVA ou PVA) força movimentos verticais ascendentes de grande escala (ômega negativo), reduzindo as pressões e enfraquecendo a estabilidade.</a:t>
            </a:r>
          </a:p>
          <a:p/>
          <a:p>
            <a:r>
              <a:t>Simultaneamente, em 850 hPa, identificamos a atuação clássica do Jato em Baixos Níveis da América do Sul (JBN), fluindo ao longo da borda leste dos Andes. O JBN atinge velocidades superiores a 23 m/s (44 nós) em 925/850 hPa, bombeando uma língua de altíssima temperatura potencial equivalente (θe &gt; 355 K) direto da bacia Amazônica e do Chaco para o RS.</a:t>
            </a:r>
          </a:p>
          <a:p>
            <a:r>
              <a:t>Esse acoplamento vertical — suporte dinâmico em altitude e advecção quente/úmida em baixos níveis — prepara o ambiente para a convecção explosiva.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(03:00 - 05:00):</a:t>
            </a:r>
          </a:p>
          <a:p>
            <a:r>
              <a:t>Entrando no bloco das Três Sondagens e Três Análises Físicas, conforme solicitado para a apresentação.</a:t>
            </a:r>
          </a:p>
          <a:p>
            <a:r>
              <a:t>No painel à esquerda, exibimos lado a lado as radiossondagens de Porto Alegre com Skew-T, hodógrafo e métricas diagnósticas.</a:t>
            </a:r>
          </a:p>
          <a:p/>
          <a:p>
            <a:r>
              <a:t>ANÁLISE 1 (Atmosfera Estável - 12/12/1995 12Z):</a:t>
            </a:r>
          </a:p>
          <a:p>
            <a:r>
              <a:t>Este caso representa a atmosfera sob regime pós-frontal dominada por uma massa de ar frio e crista anticiclônica migratória. Notem a enorme separação entre a temperatura e o ponto de orvalho em médios níveis. O ar descendente (subsidência) aquece adiabaticamente e seca a coluna, impedindo a formação de nuvens convectivas.</a:t>
            </a:r>
          </a:p>
          <a:p>
            <a:r>
              <a:t>O MUCAPE é estritamente zero; a frequência de Brunt-Väisälä N² é positiva em toda a troposfera, caracterizando estabilidade estática profunda. Não há suporte termodinâmico para nenhuma convecção.</a:t>
            </a:r>
          </a:p>
          <a:p/>
          <a:p>
            <a:r>
              <a:t>ANÁLISE 2 (Atmosfera Neutra / Transição - 23/12/1995 12Z):</a:t>
            </a:r>
          </a:p>
          <a:p>
            <a:r>
              <a:t>Onze dias depois, a sinótica muda: o anticiclone migra para o mar e ventos de quadrante norte começam a injetar umidade na camada limite. A razão de mistura sobe para 19.4 g/kg e o SBCAPE atinge 2.762 J/kg com PW de 57 mm.</a:t>
            </a:r>
          </a:p>
          <a:p>
            <a:r>
              <a:t>No entanto, este ambiente é marginalmente neutro/transicional: não há forçamento dinâmico em 500 hPa e o cisalhamento vertical 0-6 km é fraco (apenas 10.2 m/s, com SRH de 81 m²/s²). O hodógrafo é quase linear e curto. Portanto, embora exista energia potencial, falta organização dinâmica, impedindo tempestades severas.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(05:00 - 07:00):</a:t>
            </a:r>
          </a:p>
          <a:p>
            <a:r>
              <a:t>Avançando para a ANÁLISE 3 (Atmosfera Instável Severa - 24/12/1995 12Z) e o confronto dos três casos na Matriz Comparativa.</a:t>
            </a:r>
          </a:p>
          <a:p>
            <a:r>
              <a:t>No gráfico Skew-T à esquerda, gerado rigorosamente com o código do Google Colab do Prof. Reinaldo Haas, vemos o perfil termodinâmico explosivo de Porto Alegre.</a:t>
            </a:r>
          </a:p>
          <a:p>
            <a:r>
              <a:t>A parcela de 925 hPa apresenta temperatura de 30°C com ponto de orvalho de 25°C e razão de mistura de 22 g/kg!</a:t>
            </a:r>
          </a:p>
          <a:p>
            <a:r>
              <a:t>O MUCAPE atinge 4.645 J/kg com inibição de convecção insignificante (-6.5 J/kg). O LCL é extremamente baixo (600 metros) e o LFC ocorre imediatamente. Pela condição de instabilidade potencial, temos dθe/dz fortemente negativo até 650 hPa.</a:t>
            </a:r>
          </a:p>
          <a:p/>
          <a:p>
            <a:r>
              <a:t>Na Matriz Comparativa Tríplice que estruturamos para os alunos:</a:t>
            </a:r>
          </a:p>
          <a:p>
            <a:r>
              <a:t>- No dia 12 (Estável): MUCAPE é 0 J/kg, ar seco, subsidência.</a:t>
            </a:r>
          </a:p>
          <a:p>
            <a:r>
              <a:t>- No dia 23 (Neutro): MUCAPE é 2.762 J/kg, mas o cisalhamento vertical é fraco (10.2 m/s) e não há forçamento em 500 hPa.</a:t>
            </a:r>
          </a:p>
          <a:p>
            <a:r>
              <a:t>- No dia 24 (Instável Severo): MUCAPE salta para 4.645 J/kg, acompanhado de cisalhamento profundo de 28.7 m/s e SRH de 245 m²/s².</a:t>
            </a:r>
          </a:p>
          <a:p>
            <a:r>
              <a:t>Essa comparação tríplice ilustra com clareza a física da convecção severa: não basta ter apenas CAPE moderado; é a convergência do JBN, o rompimento da tampa de inversão e o cisalhamento rotatório que determinam o evento severo.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(07:00 - 10:00):</a:t>
            </a:r>
          </a:p>
          <a:p>
            <a:r>
              <a:t>Este slide é de primordial importância para a banca, pois conecta nosso estudo diretamente com o arcabouço teórico de Kerry Emanuel (1994), 'Atmospheric Convection', e o material do curso MIT OCW 12.811.</a:t>
            </a:r>
          </a:p>
          <a:p>
            <a:r>
              <a:t>À esquerda, temos os gráficos 2D gerados pelo tcon.py / wyoming.py para as TRÊS radiossondagens simultaneamente.</a:t>
            </a:r>
          </a:p>
          <a:p>
            <a:r>
              <a:t>A linha superior mostra a ascensão Reversível (temperatura de densidade Tρ com retenção de condensado), enquanto a linha inferior mostra a ascensão Pseudoadiabática (temperatura virtual Tv com precipitação instantânea).</a:t>
            </a:r>
          </a:p>
          <a:p/>
          <a:p>
            <a:r>
              <a:t>Notem o contraste perfeito entre os três regimes:</a:t>
            </a:r>
          </a:p>
          <a:p>
            <a:r>
              <a:t>1. No caso Estável (12/12), a matriz inteira é dominada por cores azuis (anomalia negativa). Qualquer parcela deslocada é mais fria e mais densa que o ambiente, retornando ao equilíbrio.</a:t>
            </a:r>
          </a:p>
          <a:p>
            <a:r>
              <a:t>2. No caso Neutro (23/12), surge uma camada rasa de flutuabilidade positiva moderada perto da superfície, com o CAPE caindo pela metade no modo reversível (de 2536 para 1266 J/kg).</a:t>
            </a:r>
          </a:p>
          <a:p>
            <a:r>
              <a:t>3. No caso Instável Severo (24/12), vemos um núcleo violento de cores quentes (vermelho escuro) estendendo-se de 950 até 400 hPa, com anomalia térmica superior a +10 K!</a:t>
            </a:r>
          </a:p>
          <a:p>
            <a:r>
              <a:t>Para a parcela de 925 hPa (JBN), o PA pseudoadiabático atinge 7.781 J/kg, mas o reversível cai para 6.247 J/kg. A diferença de 1.534 J/kg (-19.7%) é o freio exercido pelo peso dos hidrometeoros retidos (water loading), essencial para não superestimar a corrente ascendente.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(10:00 - 12:00):</a:t>
            </a:r>
          </a:p>
          <a:p>
            <a:r>
              <a:t>Neste slide, confrontamos os perfis verticais calculados no Google Colab via MetPy para as TRÊS radiossondagens simultaneamente, revelando a assinatura termodinâmica de cada regime.</a:t>
            </a:r>
          </a:p>
          <a:p>
            <a:r>
              <a:t>No Painel 1, observem o perfil de temperatura potencial equivalente (θe):</a:t>
            </a:r>
          </a:p>
          <a:p>
            <a:r>
              <a:t>- A curva azul (12/12) reflete a massa de ar pós-frontal estável, com θe de apenas 324 K.</a:t>
            </a:r>
          </a:p>
          <a:p>
            <a:r>
              <a:t>- A curva amarela (23/12) mostra o ar tropical retornando, com θe em 354 K.</a:t>
            </a:r>
          </a:p>
          <a:p>
            <a:r>
              <a:t>- A curva vermelha (24/12) é impressionante: o JBN injeta um pulso de θe de 377.8 K em 925 hPa, criando um fortíssimo decaimento com a altitude (∂θe/∂z &lt; 0). Isso define formalmente a Instabilidade Convectiva Potencial extrema.</a:t>
            </a:r>
          </a:p>
          <a:p/>
          <a:p>
            <a:r>
              <a:t>No Painel 2, temos a Frequência de Brunt-Väisälä (N).</a:t>
            </a:r>
          </a:p>
          <a:p>
            <a:r>
              <a:t>Vejam como no caso severo de 24/12 surge um pico acentuado de N exatamente em 925 hPa. Esse pico marca a famosa inversão térmica conhecida como 'Capping Lid' (a tampa da camada limite).</a:t>
            </a:r>
          </a:p>
          <a:p>
            <a:r>
              <a:t>Como explicado por Kerry Emanuel no Capítulo 2, o Capping Lid é indispensável para surtos de supercélulas: ele impede que a energia seja liberada prematuramente pela manhã, permitindo que a camada limite acumule vapor e calor até explodir violentamente à tarde.</a:t>
            </a:r>
          </a:p>
          <a:p/>
          <a:p>
            <a:r>
              <a:t>Nos Painéis 3 e 4, a estabilidade estática S e a razão de mistura r confirmam o quadro: no dia 24/12, a razão de mistura atingiu 22.0 g/kg no nível do Jato, um valor excepcional para latitudes subtropicais.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(12:00 - 14:00):</a:t>
            </a:r>
          </a:p>
          <a:p>
            <a:r>
              <a:t>Continuando o diagnóstico do Capítulo 2, examinamos o conteúdo de vapor d'água e o risco de correntes descendentes violentas.</a:t>
            </a:r>
          </a:p>
          <a:p>
            <a:r>
              <a:t>A razão de mistura de vapor d'água (r) medida em Porto Alegre atinge impressionantes 22.0 g/kg no nível de 925 hPa! Esse valor é extraordinário para latitudes subtropicais e atesta a eficiência do JBN em bombear umidade pura da Amazônia.</a:t>
            </a:r>
          </a:p>
          <a:p>
            <a:r>
              <a:t>A integral de umidade na coluna fornece uma Água Precipitável (PW) de 52.4 mm, situando-se no percentil 95 superior para o clima do Rio Grande do Sul.</a:t>
            </a:r>
          </a:p>
          <a:p/>
          <a:p>
            <a:r>
              <a:t>Mas o aspecto mais perigoso desta sondagem está na camada de ar mais seco localizada em médios níveis (~650 hPa).</a:t>
            </a:r>
          </a:p>
          <a:p>
            <a:r>
              <a:t>Quando a chuva intensa cai através dessa camada de ar insaturado, a evaporação parcial das gotas retira calor latente do ar, resfriando bruscamente a parcela. A parcela torna-se muito mais densa que a vizinhança e despenca em direção à superfície acelerada pela gravidade.</a:t>
            </a:r>
          </a:p>
          <a:p>
            <a:r>
              <a:t>O código wyoming.f de Kerry Emanuel calculou o Downdraft CAPE (DCAPE) deste perfil em 1.149 J/kg!</a:t>
            </a:r>
          </a:p>
          <a:p>
            <a:r>
              <a:t>Aplicando a equação da energia cinética descendente, obtemos uma velocidade de queda teórica de 47.9 m/s, correspondendo a ventos de até 172 km/h quando esse bolsão de ar atinge o solo e se espalha radialmente. Esse é o mecanismo físico gerador de microbursts e frentes de rajada destruidoras em tempestades severas.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(14:00 - 17:00):</a:t>
            </a:r>
          </a:p>
          <a:p>
            <a:r>
              <a:t>Entramos no bloco crucial de cinemática e dinâmica do vento.</a:t>
            </a:r>
          </a:p>
          <a:p>
            <a:r>
              <a:t>O gráfico à esquerda é o Hodógrafo Polar detalhado da sondagem de Porto Alegre.</a:t>
            </a:r>
          </a:p>
          <a:p>
            <a:r>
              <a:t>Cada ponto representa a ponta do vetor vento horizontal em diferentes altitudes, colorido por camadas de 0-1 km (vermelho), 1-3 km (verde), 3-6 km (azul) e alta troposfera (roxo).</a:t>
            </a:r>
          </a:p>
          <a:p/>
          <a:p>
            <a:r>
              <a:t>Dois aspectos saltam aos olhos:</a:t>
            </a:r>
          </a:p>
          <a:p>
            <a:r>
              <a:t>Primeiro, a presença evidente do Jato em Baixos Níveis (JBN) em 925 hPa, com vento atingindo 44 nós (23.2 m/s). Esse jato gera um semicírculo pronunciado no hodógrafo nos primeiros 1.500 metros.</a:t>
            </a:r>
          </a:p>
          <a:p>
            <a:r>
              <a:t>No Hemisfério Sul, essa curvatura com giro horário do vento com a altura produz vorticidade horizontal puramente paralela ao escoamento relativo (vorticidade streamwise). Quando o ar entra na corrente ascendente, essa vorticidade horizontal é inclinada (tilting) para a vertical, gerando um mesociclone giratório sustentado!</a:t>
            </a:r>
          </a:p>
          <a:p/>
          <a:p>
            <a:r>
              <a:t>Segundo, o cisalhamento vertical profundo de 0 a 6 km atinge 28.7 m/s (quase 56 nós).</a:t>
            </a:r>
          </a:p>
          <a:p>
            <a:r>
              <a:t>A literatura clássica (Markowski &amp; Richardson, 2010; Doswell, 2001) estabelece que cisalhamentos 0-6 km superiores a 20 m/s são a condição sine qua non para o desenvolvimento de Supercélulas.</a:t>
            </a:r>
          </a:p>
          <a:p>
            <a:r>
              <a:t>O cisalhamento profundo inclina a coluna convectiva, fazendo com que a chuva e o granizo caiam fora da corrente ascendente, permitindo que a tempestade se auto-sustente por horas sem ser sufocada pela própria precipitação.</a:t>
            </a:r>
          </a:p>
          <a:p>
            <a:r>
              <a:t>Com SRH 0-3 km de 245 m²/s² e Bulk Richardson Number de 34, a cinemática confirma um ambiente clássico para tempestades supercelulares.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(17:00 - 18:30):</a:t>
            </a:r>
          </a:p>
          <a:p>
            <a:r>
              <a:t>Integrando todos os diagnósticos termodinâmicos e cinemáticos em um modelo conceitual de mesoescala.</a:t>
            </a:r>
          </a:p>
          <a:p>
            <a:r>
              <a:t>À esquerda, sintetizamos a estrutura física da tempestade prevista para este evento.</a:t>
            </a:r>
          </a:p>
          <a:p>
            <a:r>
              <a:t>A combinação de alto CAPE (acima de 3.800 J/kg no modelo reversível e 4.600 J/kg no MUCAPE) com cisalhamento vertical profundo de 28.7 m/s classifica inequivocamente o sistema como uma tempestade Supercelular.</a:t>
            </a:r>
          </a:p>
          <a:p/>
          <a:p>
            <a:r>
              <a:t>Entretanto, devido ao conteúdo excepcional de umidade troposférica (PW de 52.4 mm), esta tempestade não se comporta como uma supercélula clássica de planície seca (LP), mas sim como uma Supercélula de Alta Precipitação (HP Supercell).</a:t>
            </a:r>
          </a:p>
          <a:p>
            <a:r>
              <a:t>Em uma supercélula HP, a precipitação pesada e o granizo envolvem completamente o mesociclone, ocultando a rotação de observadores em solo e gerando chuvas torrenciais.</a:t>
            </a:r>
          </a:p>
          <a:p/>
          <a:p>
            <a:r>
              <a:t>Além disso, como o DCAPE é de 1.149 J/kg, a corrente descendente traseira (RFD) e a dianteira (FFD) produzem piscinas frias (cold pools) muito densas e agressivas.</a:t>
            </a:r>
          </a:p>
          <a:p>
            <a:r>
              <a:t>Quando a frente de rajada da piscina fria avança sobre o ar quente e úmido trazido pelo JBN, ela força novas convecções ao longo de sua borda. Esse mecanismo faz com que supercélulas individuais na Bacia do Prata rapidamente se fundam em linhas de instabilidade organizadas e Complexos Convectivos de Mesoescala (CCMs).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ROTEIRO DO ORADOR (18:30 - 20:00):</a:t>
            </a:r>
          </a:p>
          <a:p>
            <a:r>
              <a:t>Chegamos à conclusão do nosso seminário com a síntese quantitativa que resume com precisão a magnitude do evento.</a:t>
            </a:r>
          </a:p>
          <a:p>
            <a:r>
              <a:t>À esquerda, a tabela consolida os indicadores diagnosticados:</a:t>
            </a:r>
          </a:p>
          <a:p>
            <a:r>
              <a:t>- O ambiente contava com flutuabilidade extrema (MUCAPE de 4.645 J/kg) e inibição virtualmente nula (-6.5 J/kg).</a:t>
            </a:r>
          </a:p>
          <a:p>
            <a:r>
              <a:t>- O modelo reversível de Emanuel (1994) evidenciou que a retenção de condensado (water loading) atenua o CAPE em 340 J/kg, mas ainda sustenta 3.832 J/kg.</a:t>
            </a:r>
          </a:p>
          <a:p>
            <a:r>
              <a:t>- O DCAPE de 1.149 J/kg conferiu potencial para correntes descendentes de até 48 m/s (172 km/h).</a:t>
            </a:r>
          </a:p>
          <a:p>
            <a:r>
              <a:t>- O JBN em 925 hPa com 44 nós forneceu o influxo massivo de umidade (r = 22 g/kg, PW = 52.4 mm) e estabeleceu a curvatura do hodógrafo que garantiu uma Helicidade Relativa de 245 m²/s² e Cisalhamento 0-6 km de 28.7 m/s, favorecendo o desenvolvimento de uma Supercélula de Alta Precipitação (HP) com rajadas destrutivas.</a:t>
            </a:r>
          </a:p>
          <a:p/>
          <a:p>
            <a:r>
              <a:t>Agradeço sinceramente ao Professor Reinaldo Haas e aos ilustres membros da banca examinadora.</a:t>
            </a:r>
          </a:p>
          <a:p>
            <a:r>
              <a:t>Encerro a apresentação rigorosamente no tempo regulamentar de 20 minutos e coloco-me à inteira disposição para responder às perguntas da arguição. Muito obrigado!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502920"/>
            <a:ext cx="10332720" cy="411480"/>
          </a:xfrm>
          <a:prstGeom prst="rect">
            <a:avLst/>
          </a:prstGeom>
          <a:noFill/>
        </p:spPr>
        <p:txBody>
          <a:bodyPr wrap="none">
            <a:spAutoFit/>
          </a:bodyPr>
          <a:lstStyle/>
          <a:p>
            <a:pPr>
              <a:defRPr sz="1100" b="1">
                <a:solidFill>
                  <a:srgbClr val="38BDF8"/>
                </a:solidFill>
              </a:defRPr>
            </a:pPr>
            <a:r>
              <a:t>UFSC  |  DEPARTAMENTO DE FÍSICA / CFM  |  FSC7116 METEOROLOGIA DE MESOESCALA</a:t>
            </a:r>
          </a:p>
        </p:txBody>
      </p:sp>
      <p:sp>
        <p:nvSpPr>
          <p:cNvPr id="4" name="Rounded Rectangle 3"/>
          <p:cNvSpPr/>
          <p:nvPr/>
        </p:nvSpPr>
        <p:spPr>
          <a:xfrm>
            <a:off x="914400" y="960120"/>
            <a:ext cx="10360152" cy="960120"/>
          </a:xfrm>
          <a:prstGeom prst="roundRect">
            <a:avLst/>
          </a:prstGeom>
          <a:solidFill>
            <a:srgbClr val="182646"/>
          </a:solidFill>
          <a:ln w="1524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024128"/>
            <a:ext cx="9966960" cy="822960"/>
          </a:xfrm>
          <a:prstGeom prst="rect">
            <a:avLst/>
          </a:prstGeom>
          <a:noFill/>
        </p:spPr>
        <p:txBody>
          <a:bodyPr wrap="square">
            <a:spAutoFit/>
          </a:bodyPr>
          <a:lstStyle/>
          <a:p>
            <a:pPr>
              <a:defRPr sz="1100" b="1">
                <a:solidFill>
                  <a:srgbClr val="FBBF24"/>
                </a:solidFill>
              </a:defRPr>
            </a:pPr>
            <a:r>
              <a:t>📖 TUTORIAL &amp; DIRETRIZ DIDÁTICA OBRIGATÓRIA PARA OS ALUNOS (PROF. REINALDO HAAS):</a:t>
            </a:r>
          </a:p>
          <a:p>
            <a:pPr>
              <a:spcBef>
                <a:spcPts val="300"/>
              </a:spcBef>
              <a:defRPr sz="950">
                <a:solidFill>
                  <a:srgbClr val="F8FAFC"/>
                </a:solidFill>
              </a:defRPr>
            </a:pPr>
            <a:r>
              <a:t>Cada aluno ou grupo DEVE selecionar OBRIGATORIAMENTE TRÊS RADIOSSONDAGENS REAIS DISTINTAS contemplando os 3 estados atmosféricos:</a:t>
            </a:r>
            <a:br/>
            <a:r>
              <a:t>1) Atmosfera ESTÁVEL   |   2) Atmosfera NEUTRA (ou Transição)   |   3) Atmosfera INSTÁVEL (Convecção Severa)</a:t>
            </a:r>
            <a:br/>
            <a:r>
              <a:t>As sondagens podem diferir em DATAS na mesma localidade OU em LUGARES DIFERENTES (ex: SBPA, SBFL, SBCT, Argentina, etc.).</a:t>
            </a:r>
          </a:p>
        </p:txBody>
      </p:sp>
      <p:sp>
        <p:nvSpPr>
          <p:cNvPr id="6" name="TextBox 5"/>
          <p:cNvSpPr txBox="1"/>
          <p:nvPr/>
        </p:nvSpPr>
        <p:spPr>
          <a:xfrm>
            <a:off x="914400" y="2057400"/>
            <a:ext cx="10332720" cy="1280160"/>
          </a:xfrm>
          <a:prstGeom prst="rect">
            <a:avLst/>
          </a:prstGeom>
          <a:noFill/>
        </p:spPr>
        <p:txBody>
          <a:bodyPr wrap="square">
            <a:spAutoFit/>
          </a:bodyPr>
          <a:lstStyle/>
          <a:p>
            <a:pPr>
              <a:defRPr sz="2800" b="1">
                <a:solidFill>
                  <a:srgbClr val="F8FAFC"/>
                </a:solidFill>
              </a:defRPr>
            </a:pPr>
            <a:r>
              <a:t>Diagnóstico Termodinâmico e Dinâmico</a:t>
            </a:r>
            <a:br/>
            <a:r>
              <a:t>de Tempestade Severa em Mesoescala</a:t>
            </a:r>
          </a:p>
          <a:p>
            <a:pPr>
              <a:spcBef>
                <a:spcPts val="400"/>
              </a:spcBef>
              <a:defRPr sz="1500">
                <a:solidFill>
                  <a:srgbClr val="38BDF8"/>
                </a:solidFill>
              </a:defRPr>
            </a:pPr>
            <a:r>
              <a:t>Aplicação Metodológica: Estudo Comparativo das 3 Sondagens de Porto Alegre (SBPA - 83971)</a:t>
            </a:r>
          </a:p>
        </p:txBody>
      </p:sp>
      <p:sp>
        <p:nvSpPr>
          <p:cNvPr id="7" name="Rounded Rectangle 6"/>
          <p:cNvSpPr/>
          <p:nvPr/>
        </p:nvSpPr>
        <p:spPr>
          <a:xfrm>
            <a:off x="914400" y="3429000"/>
            <a:ext cx="3291840" cy="201168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566160"/>
            <a:ext cx="3017520" cy="1737360"/>
          </a:xfrm>
          <a:prstGeom prst="rect">
            <a:avLst/>
          </a:prstGeom>
          <a:noFill/>
        </p:spPr>
        <p:txBody>
          <a:bodyPr wrap="square">
            <a:spAutoFit/>
          </a:bodyPr>
          <a:lstStyle/>
          <a:p>
            <a:pPr>
              <a:defRPr sz="1300" b="1">
                <a:solidFill>
                  <a:srgbClr val="38BDF8"/>
                </a:solidFill>
              </a:defRPr>
            </a:pPr>
            <a:r>
              <a:t>📍 3 Casos Selecionados</a:t>
            </a:r>
          </a:p>
          <a:p>
            <a:pPr>
              <a:spcBef>
                <a:spcPts val="600"/>
              </a:spcBef>
              <a:defRPr sz="1050">
                <a:solidFill>
                  <a:srgbClr val="F8FAFC"/>
                </a:solidFill>
              </a:defRPr>
            </a:pPr>
            <a:r>
              <a:t>1. Estável: 12/12/1995 12Z</a:t>
            </a:r>
            <a:br/>
            <a:r>
              <a:t>2. Neutra: 23/12/1995 12Z</a:t>
            </a:r>
            <a:br/>
            <a:r>
              <a:t>3. Instável: 24/12/1995 12Z</a:t>
            </a:r>
            <a:br/>
            <a:r>
              <a:t>Local: SBPA (Porto Alegre)</a:t>
            </a:r>
          </a:p>
        </p:txBody>
      </p:sp>
      <p:sp>
        <p:nvSpPr>
          <p:cNvPr id="9" name="Rounded Rectangle 8"/>
          <p:cNvSpPr/>
          <p:nvPr/>
        </p:nvSpPr>
        <p:spPr>
          <a:xfrm>
            <a:off x="4434840" y="3429000"/>
            <a:ext cx="3291840" cy="201168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3566160"/>
            <a:ext cx="3017520" cy="1737360"/>
          </a:xfrm>
          <a:prstGeom prst="rect">
            <a:avLst/>
          </a:prstGeom>
          <a:noFill/>
        </p:spPr>
        <p:txBody>
          <a:bodyPr wrap="square">
            <a:spAutoFit/>
          </a:bodyPr>
          <a:lstStyle/>
          <a:p>
            <a:pPr>
              <a:defRPr sz="1300" b="1">
                <a:solidFill>
                  <a:srgbClr val="F87171"/>
                </a:solidFill>
              </a:defRPr>
            </a:pPr>
            <a:r>
              <a:t>⚡ 3 Análises Completas</a:t>
            </a:r>
          </a:p>
          <a:p>
            <a:pPr>
              <a:spcBef>
                <a:spcPts val="600"/>
              </a:spcBef>
              <a:defRPr sz="1050">
                <a:solidFill>
                  <a:srgbClr val="F8FAFC"/>
                </a:solidFill>
              </a:defRPr>
            </a:pPr>
            <a:r>
              <a:t>• Flutuabilidade e CAPE/CIN</a:t>
            </a:r>
            <a:br/>
            <a:r>
              <a:t>• Emanuel Tρ e Water Loading</a:t>
            </a:r>
            <a:br/>
            <a:r>
              <a:t>• Freq. Brunt-Väisälä N² e Lid</a:t>
            </a:r>
            <a:br/>
            <a:r>
              <a:t>• JBN e Helicidade (SRH)</a:t>
            </a:r>
          </a:p>
        </p:txBody>
      </p:sp>
      <p:sp>
        <p:nvSpPr>
          <p:cNvPr id="11" name="Rounded Rectangle 10"/>
          <p:cNvSpPr/>
          <p:nvPr/>
        </p:nvSpPr>
        <p:spPr>
          <a:xfrm>
            <a:off x="7955279" y="3429000"/>
            <a:ext cx="3291840" cy="201168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92440" y="3566160"/>
            <a:ext cx="3017520" cy="1737360"/>
          </a:xfrm>
          <a:prstGeom prst="rect">
            <a:avLst/>
          </a:prstGeom>
          <a:noFill/>
        </p:spPr>
        <p:txBody>
          <a:bodyPr wrap="square">
            <a:spAutoFit/>
          </a:bodyPr>
          <a:lstStyle/>
          <a:p>
            <a:pPr>
              <a:defRPr sz="1300" b="1">
                <a:solidFill>
                  <a:srgbClr val="34D399"/>
                </a:solidFill>
              </a:defRPr>
            </a:pPr>
            <a:r>
              <a:t>📚 Arcabouço Teórico</a:t>
            </a:r>
          </a:p>
          <a:p>
            <a:pPr>
              <a:spcBef>
                <a:spcPts val="600"/>
              </a:spcBef>
              <a:defRPr sz="1050">
                <a:solidFill>
                  <a:srgbClr val="F8FAFC"/>
                </a:solidFill>
              </a:defRPr>
            </a:pPr>
            <a:r>
              <a:t>• Kerry Emanuel (1994)</a:t>
            </a:r>
            <a:br/>
            <a:r>
              <a:t>• MIT OCW 12.811</a:t>
            </a:r>
            <a:br/>
            <a:r>
              <a:t>• wyoming.f / tcon.py</a:t>
            </a:r>
            <a:br/>
            <a:r>
              <a:t>• MetPy &amp; Cartopy</a:t>
            </a:r>
          </a:p>
        </p:txBody>
      </p:sp>
      <p:sp>
        <p:nvSpPr>
          <p:cNvPr id="13" name="TextBox 12"/>
          <p:cNvSpPr txBox="1"/>
          <p:nvPr/>
        </p:nvSpPr>
        <p:spPr>
          <a:xfrm>
            <a:off x="914400" y="5623560"/>
            <a:ext cx="10332720" cy="777240"/>
          </a:xfrm>
          <a:prstGeom prst="rect">
            <a:avLst/>
          </a:prstGeom>
          <a:noFill/>
        </p:spPr>
        <p:txBody>
          <a:bodyPr wrap="none">
            <a:spAutoFit/>
          </a:bodyPr>
          <a:lstStyle/>
          <a:p>
            <a:pPr>
              <a:defRPr sz="1100" b="1">
                <a:solidFill>
                  <a:srgbClr val="94A3B8"/>
                </a:solidFill>
              </a:defRPr>
            </a:pPr>
            <a:r>
              <a:t>Orientador: Prof. Dr. Reinaldo Haas   •   Disciplina: FSC7116 - Meteorologia de Mesoescala (UFSC)</a:t>
            </a:r>
          </a:p>
          <a:p>
            <a:pPr>
              <a:spcBef>
                <a:spcPts val="300"/>
              </a:spcBef>
              <a:defRPr sz="1000">
                <a:solidFill>
                  <a:srgbClr val="FBBF24"/>
                </a:solidFill>
              </a:defRPr>
            </a:pPr>
            <a:r>
              <a:t>⏱️ Tempo de Apresentação: 20 Minutos  |  Roteiro com 3 Sondagens e 3 Análises Completas para a Banca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00 - 03 min  |  Slide 2/10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Forçamento Sinótico &amp; Suporte Dinâmico de Mesoescala</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Acoplamento Vertical sobre a América do Sul (500 e 850 hPa) com Divisão de Continentes, Países e Estados (Cartopy)</a:t>
            </a:r>
          </a:p>
        </p:txBody>
      </p:sp>
      <p:pic>
        <p:nvPicPr>
          <p:cNvPr id="7" name="Picture 6" descr="fig_synoptic_analysis.png"/>
          <p:cNvPicPr>
            <a:picLocks noChangeAspect="1"/>
          </p:cNvPicPr>
          <p:nvPr/>
        </p:nvPicPr>
        <p:blipFill>
          <a:blip r:embed="rId2"/>
          <a:stretch>
            <a:fillRect/>
          </a:stretch>
        </p:blipFill>
        <p:spPr>
          <a:xfrm>
            <a:off x="731520" y="1600200"/>
            <a:ext cx="6583680" cy="3214196"/>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050" b="1">
                <a:solidFill>
                  <a:srgbClr val="FBBF24"/>
                </a:solidFill>
              </a:defRPr>
            </a:pPr>
            <a:r>
              <a:t>Cartografia e Divisão Continental (Cartopy):</a:t>
            </a:r>
          </a:p>
          <a:p>
            <a:pPr>
              <a:spcBef>
                <a:spcPts val="200"/>
              </a:spcBef>
              <a:defRPr sz="900">
                <a:solidFill>
                  <a:srgbClr val="F8FAFC"/>
                </a:solidFill>
              </a:defRPr>
            </a:pPr>
            <a:r>
              <a:t>• Mapa georreferenciado da América do Sul exibindo fronteiras de Brasil, Argentina, Uruguai e Paraguai, além dos estados (RS, SC, PR).</a:t>
            </a:r>
          </a:p>
          <a:p>
            <a:pPr>
              <a:spcBef>
                <a:spcPts val="200"/>
              </a:spcBef>
              <a:defRPr sz="900">
                <a:solidFill>
                  <a:srgbClr val="F8FAFC"/>
                </a:solidFill>
              </a:defRPr>
            </a:pPr>
            <a:r>
              <a:t>• Permite localizar espacialmente o contraste orográfico dos Andes e a Bacia do Prata.</a:t>
            </a:r>
          </a:p>
          <a:p>
            <a:pPr>
              <a:spcBef>
                <a:spcPts val="600"/>
              </a:spcBef>
              <a:defRPr sz="1050" b="1">
                <a:solidFill>
                  <a:srgbClr val="38BDF8"/>
                </a:solidFill>
              </a:defRPr>
            </a:pPr>
            <a:r>
              <a:t>Nível Médio (500 hPa) - Forçamento Dinâmico:</a:t>
            </a:r>
          </a:p>
          <a:p>
            <a:pPr>
              <a:spcBef>
                <a:spcPts val="200"/>
              </a:spcBef>
              <a:defRPr sz="900">
                <a:solidFill>
                  <a:srgbClr val="F8FAFC"/>
                </a:solidFill>
              </a:defRPr>
            </a:pPr>
            <a:r>
              <a:t>• Cavado de onda curta pronunciado sobre a Argentina / Andes.</a:t>
            </a:r>
          </a:p>
          <a:p>
            <a:pPr>
              <a:spcBef>
                <a:spcPts val="200"/>
              </a:spcBef>
              <a:defRPr sz="900">
                <a:solidFill>
                  <a:srgbClr val="F8FAFC"/>
                </a:solidFill>
              </a:defRPr>
            </a:pPr>
            <a:r>
              <a:t>• Difluência acentuada a jusante diretamente sobre o RS.</a:t>
            </a:r>
          </a:p>
          <a:p>
            <a:pPr>
              <a:spcBef>
                <a:spcPts val="200"/>
              </a:spcBef>
              <a:defRPr sz="900">
                <a:solidFill>
                  <a:srgbClr val="F8FAFC"/>
                </a:solidFill>
              </a:defRPr>
            </a:pPr>
            <a:r>
              <a:t>• Advecção de Vorticidade Ciclônica Relativa (CVA / PVA) gerando sustentação de grande escala (ω &lt; 0 via Eq. Ômega QG).</a:t>
            </a:r>
          </a:p>
          <a:p>
            <a:pPr>
              <a:spcBef>
                <a:spcPts val="600"/>
              </a:spcBef>
              <a:defRPr sz="1050" b="1">
                <a:solidFill>
                  <a:srgbClr val="34D399"/>
                </a:solidFill>
              </a:defRPr>
            </a:pPr>
            <a:r>
              <a:t>Baixos Níveis (850 hPa) - Alimentação pelo JBN:</a:t>
            </a:r>
          </a:p>
          <a:p>
            <a:pPr>
              <a:spcBef>
                <a:spcPts val="200"/>
              </a:spcBef>
              <a:defRPr sz="900">
                <a:solidFill>
                  <a:srgbClr val="F8FAFC"/>
                </a:solidFill>
              </a:defRPr>
            </a:pPr>
            <a:r>
              <a:t>• Jato em Baixos Níveis (JBN) canalizado a leste dos Andes com ventos &gt; 23 m/s (44 kt) transportando calor e umidade da Amazônia/Chaco.</a:t>
            </a:r>
          </a:p>
          <a:p>
            <a:pPr>
              <a:spcBef>
                <a:spcPts val="200"/>
              </a:spcBef>
              <a:defRPr sz="900">
                <a:solidFill>
                  <a:srgbClr val="F8FAFC"/>
                </a:solidFill>
              </a:defRPr>
            </a:pPr>
            <a:r>
              <a:t>• Crista pronunciada de θe (&gt; 355 K) convergindo no RS.</a:t>
            </a:r>
          </a:p>
          <a:p>
            <a:pPr>
              <a:spcBef>
                <a:spcPts val="200"/>
              </a:spcBef>
              <a:defRPr sz="900">
                <a:solidFill>
                  <a:srgbClr val="F8FAFC"/>
                </a:solidFill>
              </a:defRPr>
            </a:pPr>
            <a:r>
              <a:t>• Desestabilização diferencial da camada limite atmosférica.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03 - 07 min  |  Slide 3/10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As Três Sondagens &amp; Três Análises: Estável (12/12) vs Neutra (23/12)</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Diagnóstico Físico Individual dos Dois Primeiros Regimes: Pós-Frontal Estável e Transição Neutra</a:t>
            </a:r>
          </a:p>
        </p:txBody>
      </p:sp>
      <p:pic>
        <p:nvPicPr>
          <p:cNvPr id="7" name="Picture 6" descr="fig_3_soundings_complete_analysis.png"/>
          <p:cNvPicPr>
            <a:picLocks noChangeAspect="1"/>
          </p:cNvPicPr>
          <p:nvPr/>
        </p:nvPicPr>
        <p:blipFill>
          <a:blip r:embed="rId2"/>
          <a:stretch>
            <a:fillRect/>
          </a:stretch>
        </p:blipFill>
        <p:spPr>
          <a:xfrm>
            <a:off x="731520" y="1600200"/>
            <a:ext cx="6583680" cy="3585603"/>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050" b="1">
                <a:solidFill>
                  <a:srgbClr val="38BDF8"/>
                </a:solidFill>
              </a:defRPr>
            </a:pPr>
            <a:r>
              <a:t>ANÁLISE 1: Atmosfera Estável (12/12/1995 12Z)</a:t>
            </a:r>
          </a:p>
          <a:p>
            <a:pPr>
              <a:spcBef>
                <a:spcPts val="200"/>
              </a:spcBef>
              <a:defRPr sz="900">
                <a:solidFill>
                  <a:srgbClr val="F8FAFC"/>
                </a:solidFill>
              </a:defRPr>
            </a:pPr>
            <a:r>
              <a:t>• Sinótica: Domínio pós-frontal de alta pressão migratória e forte subsidência.</a:t>
            </a:r>
          </a:p>
          <a:p>
            <a:pPr>
              <a:spcBef>
                <a:spcPts val="200"/>
              </a:spcBef>
              <a:defRPr sz="900">
                <a:solidFill>
                  <a:srgbClr val="F8FAFC"/>
                </a:solidFill>
              </a:defRPr>
            </a:pPr>
            <a:r>
              <a:t>• Termodinâmica: Ar muito seco em médios níveis (T - Td &gt; 15°C); inversão de subsidência; SBCAPE = 15.7 J/kg; MUCAPE = 0 J/kg; sem LFC/EL.</a:t>
            </a:r>
          </a:p>
          <a:p>
            <a:pPr>
              <a:spcBef>
                <a:spcPts val="200"/>
              </a:spcBef>
              <a:defRPr sz="900">
                <a:solidFill>
                  <a:srgbClr val="F8FAFC"/>
                </a:solidFill>
              </a:defRPr>
            </a:pPr>
            <a:r>
              <a:t>• Emanuel Tρ: Sem água líquida condensada (rl = 0); CAPE reversível e pseudoadiabático nulos.</a:t>
            </a:r>
          </a:p>
          <a:p>
            <a:pPr>
              <a:spcBef>
                <a:spcPts val="200"/>
              </a:spcBef>
              <a:defRPr sz="900">
                <a:solidFill>
                  <a:srgbClr val="F8FAFC"/>
                </a:solidFill>
              </a:defRPr>
            </a:pPr>
            <a:r>
              <a:t>• Brunt-Väisälä: N² &gt; 0 em toda a coluna (estabilidade estática profunda).</a:t>
            </a:r>
          </a:p>
          <a:p>
            <a:pPr>
              <a:spcBef>
                <a:spcPts val="600"/>
              </a:spcBef>
              <a:defRPr sz="1050" b="1">
                <a:solidFill>
                  <a:srgbClr val="FBBF24"/>
                </a:solidFill>
              </a:defRPr>
            </a:pPr>
            <a:r>
              <a:t>ANÁLISE 2: Atmosfera Neutra / Transição (23/12/1995 12Z)</a:t>
            </a:r>
          </a:p>
          <a:p>
            <a:pPr>
              <a:spcBef>
                <a:spcPts val="200"/>
              </a:spcBef>
              <a:defRPr sz="900">
                <a:solidFill>
                  <a:srgbClr val="F8FAFC"/>
                </a:solidFill>
              </a:defRPr>
            </a:pPr>
            <a:r>
              <a:t>• Sinótica: Deslocamento da alta para o Atlântico; retorno do fluxo tropical de norte.</a:t>
            </a:r>
          </a:p>
          <a:p>
            <a:pPr>
              <a:spcBef>
                <a:spcPts val="200"/>
              </a:spcBef>
              <a:defRPr sz="900">
                <a:solidFill>
                  <a:srgbClr val="F8FAFC"/>
                </a:solidFill>
              </a:defRPr>
            </a:pPr>
            <a:r>
              <a:t>• Termodinâmica: Umedecimento progressivo da CLP (T0=25.8°C, Td0=24.4°C, r_max=19.4 g/kg); SBCAPE = 2762 J/kg; PW = 57.0 mm.</a:t>
            </a:r>
          </a:p>
          <a:p>
            <a:pPr>
              <a:spcBef>
                <a:spcPts val="200"/>
              </a:spcBef>
              <a:defRPr sz="900">
                <a:solidFill>
                  <a:srgbClr val="F8FAFC"/>
                </a:solidFill>
              </a:defRPr>
            </a:pPr>
            <a:r>
              <a:t>• Inibição / Gatilho: Apesar do CAPE moderado, ausência de suporte dinâmico em 500 hPa; cisalhamento fraco (Bulk Shear 0-6km = 10.2 m/s).</a:t>
            </a:r>
          </a:p>
          <a:p>
            <a:pPr>
              <a:spcBef>
                <a:spcPts val="200"/>
              </a:spcBef>
              <a:defRPr sz="900">
                <a:solidFill>
                  <a:srgbClr val="F8FAFC"/>
                </a:solidFill>
              </a:defRPr>
            </a:pPr>
            <a:r>
              <a:t>• Modo Convectivo: Regime quase-neutro, cúmulos desorganizados ou convecção isolada sem severidade.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03 - 07 min  |  Slide 4/10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As Três Sondagens &amp; Três Análises: Instável Severa (24/12) &amp; Matriz Comparativa</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Diagnóstico Físico do Caso Severo e Tabela Comparativa Tríplice dos Três Estados Atmosféricos</a:t>
            </a:r>
          </a:p>
        </p:txBody>
      </p:sp>
      <p:pic>
        <p:nvPicPr>
          <p:cNvPr id="7" name="Picture 6" descr="fig_colab_severe_skewt.png"/>
          <p:cNvPicPr>
            <a:picLocks noChangeAspect="1"/>
          </p:cNvPicPr>
          <p:nvPr/>
        </p:nvPicPr>
        <p:blipFill>
          <a:blip r:embed="rId2"/>
          <a:stretch>
            <a:fillRect/>
          </a:stretch>
        </p:blipFill>
        <p:spPr>
          <a:xfrm>
            <a:off x="731520" y="1600200"/>
            <a:ext cx="6583680" cy="3948606"/>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691640"/>
            <a:ext cx="3611880" cy="4480560"/>
          </a:xfrm>
          <a:prstGeom prst="rect">
            <a:avLst/>
          </a:prstGeom>
          <a:noFill/>
        </p:spPr>
        <p:txBody>
          <a:bodyPr wrap="square">
            <a:spAutoFit/>
          </a:bodyPr>
          <a:lstStyle/>
          <a:p>
            <a:pPr>
              <a:spcBef>
                <a:spcPts val="500"/>
              </a:spcBef>
              <a:defRPr sz="1050" b="1">
                <a:solidFill>
                  <a:srgbClr val="F87171"/>
                </a:solidFill>
              </a:defRPr>
            </a:pPr>
            <a:r>
              <a:t>ANÁLISE 3: Atmosfera Instável / Explosiva (24/12)</a:t>
            </a:r>
          </a:p>
          <a:p>
            <a:pPr>
              <a:spcBef>
                <a:spcPts val="200"/>
              </a:spcBef>
              <a:defRPr sz="880">
                <a:solidFill>
                  <a:srgbClr val="F8FAFC"/>
                </a:solidFill>
              </a:defRPr>
            </a:pPr>
            <a:r>
              <a:t>• Inversão quente/úmida em 925 hPa (JBN): T = 30°C, Td = 25°C, r = 22.02 g/kg.</a:t>
            </a:r>
          </a:p>
          <a:p>
            <a:pPr>
              <a:spcBef>
                <a:spcPts val="200"/>
              </a:spcBef>
              <a:defRPr sz="880">
                <a:solidFill>
                  <a:srgbClr val="F8FAFC"/>
                </a:solidFill>
              </a:defRPr>
            </a:pPr>
            <a:r>
              <a:t>• MUCAPE: 4.645 J/kg | SBCAPE: 1.862 J/kg | CIN: -6.5 J/kg.</a:t>
            </a:r>
          </a:p>
          <a:p>
            <a:pPr>
              <a:spcBef>
                <a:spcPts val="200"/>
              </a:spcBef>
              <a:defRPr sz="880">
                <a:solidFill>
                  <a:srgbClr val="F8FAFC"/>
                </a:solidFill>
              </a:defRPr>
            </a:pPr>
            <a:r>
              <a:t>• LCL a 600 m (942 hPa), LFC imediato e EL a 165 hPa (~13.8 km).</a:t>
            </a:r>
          </a:p>
          <a:p>
            <a:pPr>
              <a:spcBef>
                <a:spcPts val="200"/>
              </a:spcBef>
              <a:defRPr sz="880">
                <a:solidFill>
                  <a:srgbClr val="F8FAFC"/>
                </a:solidFill>
              </a:defRPr>
            </a:pPr>
            <a:r>
              <a:t>• Instabilidade Convectiva: ∂θe / ∂z &lt; 0 profundo até 650 hPa.</a:t>
            </a:r>
          </a:p>
          <a:p>
            <a:pPr>
              <a:spcBef>
                <a:spcPts val="500"/>
              </a:spcBef>
              <a:defRPr sz="1050" b="1">
                <a:solidFill>
                  <a:srgbClr val="38BDF8"/>
                </a:solidFill>
              </a:defRPr>
            </a:pPr>
            <a:r>
              <a:t>MATRIZ COMPARATIVA TRÍPLICE (3 SONDAGENS):</a:t>
            </a:r>
          </a:p>
          <a:p>
            <a:pPr>
              <a:spcBef>
                <a:spcPts val="200"/>
              </a:spcBef>
              <a:defRPr sz="880">
                <a:solidFill>
                  <a:srgbClr val="F8FAFC"/>
                </a:solidFill>
              </a:defRPr>
            </a:pPr>
            <a:r>
              <a:t>• • Estável (12/12): MUCAPE = 0 J/kg | CIN = 0 | Shear = 13.7 m/s | r = 11.6 g/kg</a:t>
            </a:r>
          </a:p>
          <a:p>
            <a:pPr>
              <a:spcBef>
                <a:spcPts val="200"/>
              </a:spcBef>
              <a:defRPr sz="880">
                <a:solidFill>
                  <a:srgbClr val="F8FAFC"/>
                </a:solidFill>
              </a:defRPr>
            </a:pPr>
            <a:r>
              <a:t>• • Neutra (23/12): MUCAPE = 2762 J/kg | CIN = 0 | Shear = 10.2 m/s | r = 19.4 g/kg</a:t>
            </a:r>
          </a:p>
          <a:p>
            <a:pPr>
              <a:spcBef>
                <a:spcPts val="200"/>
              </a:spcBef>
              <a:defRPr sz="880">
                <a:solidFill>
                  <a:srgbClr val="F8FAFC"/>
                </a:solidFill>
              </a:defRPr>
            </a:pPr>
            <a:r>
              <a:t>• • Instável (24/12): MUCAPE = 4645 J/kg | CIN = -6.5 | Shear = 28.7 m/s | r = 22.0 g/kg</a:t>
            </a:r>
          </a:p>
          <a:p>
            <a:pPr>
              <a:spcBef>
                <a:spcPts val="200"/>
              </a:spcBef>
              <a:defRPr sz="880">
                <a:solidFill>
                  <a:srgbClr val="F8FAFC"/>
                </a:solidFill>
              </a:defRPr>
            </a:pPr>
            <a:r>
              <a:t>• Conclusão: O caso 24/12 combina flutuabilidade extrema com cisalhamento supercelular e JBN.</a:t>
            </a:r>
          </a:p>
          <a:p>
            <a:pPr>
              <a:spcBef>
                <a:spcPts val="500"/>
              </a:spcBef>
              <a:defRPr sz="1050" b="1">
                <a:solidFill>
                  <a:srgbClr val="FBBF24"/>
                </a:solidFill>
              </a:defRPr>
            </a:pPr>
            <a:r>
              <a:t>Diretriz Metodológica para os Alunos:</a:t>
            </a:r>
          </a:p>
          <a:p>
            <a:pPr>
              <a:spcBef>
                <a:spcPts val="200"/>
              </a:spcBef>
              <a:defRPr sz="880">
                <a:solidFill>
                  <a:srgbClr val="F8FAFC"/>
                </a:solidFill>
              </a:defRPr>
            </a:pPr>
            <a:r>
              <a:t>• Ao realizarem o trabalho, os alunos devem montar uma matriz comparativa análoga destacando a evolução física dos três estados.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07 - 10 min  |  Slide 5/10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Teoria de Emanuel (1994) &amp; Matrizes 2D das Três Sondagens</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Comparação Tríplice no wyoming.py / tcon.py - Water Loading (-rl) e Flutuabilidade (MIT OCW 12.811)</a:t>
            </a:r>
          </a:p>
        </p:txBody>
      </p:sp>
      <p:pic>
        <p:nvPicPr>
          <p:cNvPr id="7" name="Picture 6" descr="fig_3_soundings_emanuel_matrices.png"/>
          <p:cNvPicPr>
            <a:picLocks noChangeAspect="1"/>
          </p:cNvPicPr>
          <p:nvPr/>
        </p:nvPicPr>
        <p:blipFill>
          <a:blip r:embed="rId2"/>
          <a:stretch>
            <a:fillRect/>
          </a:stretch>
        </p:blipFill>
        <p:spPr>
          <a:xfrm>
            <a:off x="731520" y="1600200"/>
            <a:ext cx="6583680" cy="3811604"/>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Fundamentação Teórica - Kerry Emanuel (1994):</a:t>
            </a:r>
          </a:p>
          <a:p>
            <a:pPr>
              <a:spcBef>
                <a:spcPts val="200"/>
              </a:spcBef>
              <a:defRPr sz="930">
                <a:solidFill>
                  <a:srgbClr val="F8FAFC"/>
                </a:solidFill>
              </a:defRPr>
            </a:pPr>
            <a:r>
              <a:t>• Referência: Kerry Emanuel (1994), 'Atmospheric Convection', Oxford Univ. Press (Cap. 4 e 6).</a:t>
            </a:r>
          </a:p>
          <a:p>
            <a:pPr>
              <a:spcBef>
                <a:spcPts val="200"/>
              </a:spcBef>
              <a:defRPr sz="930">
                <a:solidFill>
                  <a:srgbClr val="F8FAFC"/>
                </a:solidFill>
              </a:defRPr>
            </a:pPr>
            <a:r>
              <a:t>• Disciplina clássica do MIT: MIT OCW 12.811.</a:t>
            </a:r>
          </a:p>
          <a:p>
            <a:pPr>
              <a:spcBef>
                <a:spcPts val="200"/>
              </a:spcBef>
              <a:defRPr sz="930">
                <a:solidFill>
                  <a:srgbClr val="F8FAFC"/>
                </a:solidFill>
              </a:defRPr>
            </a:pPr>
            <a:r>
              <a:t>• Código de referência: wyoming.f / wyoming.py e matrizes tdifrev / tdifpseudo.</a:t>
            </a:r>
          </a:p>
          <a:p>
            <a:pPr>
              <a:spcBef>
                <a:spcPts val="600"/>
              </a:spcBef>
              <a:defRPr sz="1100" b="1">
                <a:solidFill>
                  <a:srgbClr val="FBBF24"/>
                </a:solidFill>
              </a:defRPr>
            </a:pPr>
            <a:r>
              <a:t>Temperatura de Densidade (Tρ) &amp; Arrasto:</a:t>
            </a:r>
          </a:p>
          <a:p>
            <a:pPr>
              <a:spcBef>
                <a:spcPts val="200"/>
              </a:spcBef>
              <a:defRPr sz="930">
                <a:solidFill>
                  <a:srgbClr val="F8FAFC"/>
                </a:solidFill>
              </a:defRPr>
            </a:pPr>
            <a:r>
              <a:t>• Tρ = T · (1 + rv/ε) / (1 + rv + rl) ≈ Tv · (1 - rl)</a:t>
            </a:r>
          </a:p>
          <a:p>
            <a:pPr>
              <a:spcBef>
                <a:spcPts val="200"/>
              </a:spcBef>
              <a:defRPr sz="930">
                <a:solidFill>
                  <a:srgbClr val="F8FAFC"/>
                </a:solidFill>
              </a:defRPr>
            </a:pPr>
            <a:r>
              <a:t>• Incorpora o peso da água líquida condensada suspensa na parcela (-rl).</a:t>
            </a:r>
          </a:p>
          <a:p>
            <a:pPr>
              <a:spcBef>
                <a:spcPts val="600"/>
              </a:spcBef>
              <a:defRPr sz="1100" b="1">
                <a:solidFill>
                  <a:srgbClr val="34D399"/>
                </a:solidFill>
              </a:defRPr>
            </a:pPr>
            <a:r>
              <a:t>Diagnóstico dos 3 Regimes nas Matrizes 2D:</a:t>
            </a:r>
          </a:p>
          <a:p>
            <a:pPr>
              <a:spcBef>
                <a:spcPts val="200"/>
              </a:spcBef>
              <a:defRPr sz="930">
                <a:solidFill>
                  <a:srgbClr val="F8FAFC"/>
                </a:solidFill>
              </a:defRPr>
            </a:pPr>
            <a:r>
              <a:t>• 12/12 (Estável): Azul em toda a malha. Flutuabilidade negativa, sem suporte a convecção (PA ≈ 23 J/kg).</a:t>
            </a:r>
          </a:p>
          <a:p>
            <a:pPr>
              <a:spcBef>
                <a:spcPts val="200"/>
              </a:spcBef>
              <a:defRPr sz="930">
                <a:solidFill>
                  <a:srgbClr val="F8FAFC"/>
                </a:solidFill>
              </a:defRPr>
            </a:pPr>
            <a:r>
              <a:t>• 23/12 (Neutra): Camada de empuxo positiva moderada rasa (PA = 2.536 J/kg pseudo vs 1.266 J/kg rev).</a:t>
            </a:r>
          </a:p>
          <a:p>
            <a:pPr>
              <a:spcBef>
                <a:spcPts val="200"/>
              </a:spcBef>
              <a:defRPr sz="930">
                <a:solidFill>
                  <a:srgbClr val="F8FAFC"/>
                </a:solidFill>
              </a:defRPr>
            </a:pPr>
            <a:r>
              <a:t>• 24/12 (Instável Severa): Núcleo maciço de empuxo extremo (ΔT &gt; +10 K) de 950 a 400 hPa. No JBN (925 hPa), PA atinge 7.781 J/kg com redução de 1.534 J/kg (-19.7%) por water loading!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10 - 14 min  |  Slide 6/10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Perfis Verticais do Colab: Comparação das Três Sondagens</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Confronto de θe, Frequência de Brunt-Väisälä (N), Estabilidade Estática (S) e Umidade (r)</a:t>
            </a:r>
          </a:p>
        </p:txBody>
      </p:sp>
      <p:pic>
        <p:nvPicPr>
          <p:cNvPr id="7" name="Picture 6" descr="fig_3_soundings_profiles_comparison.png"/>
          <p:cNvPicPr>
            <a:picLocks noChangeAspect="1"/>
          </p:cNvPicPr>
          <p:nvPr/>
        </p:nvPicPr>
        <p:blipFill>
          <a:blip r:embed="rId2"/>
          <a:stretch>
            <a:fillRect/>
          </a:stretch>
        </p:blipFill>
        <p:spPr>
          <a:xfrm>
            <a:off x="731520" y="1600200"/>
            <a:ext cx="6583680" cy="2869869"/>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Temperatura Potencial Equivalente (θe):</a:t>
            </a:r>
          </a:p>
          <a:p>
            <a:pPr>
              <a:spcBef>
                <a:spcPts val="200"/>
              </a:spcBef>
              <a:defRPr sz="919">
                <a:solidFill>
                  <a:srgbClr val="F8FAFC"/>
                </a:solidFill>
              </a:defRPr>
            </a:pPr>
            <a:r>
              <a:t>• 12/12 (Estável): θe_sfc = 324.2 K, perfil quase uniforme, sem instabilidade.</a:t>
            </a:r>
          </a:p>
          <a:p>
            <a:pPr>
              <a:spcBef>
                <a:spcPts val="200"/>
              </a:spcBef>
              <a:defRPr sz="919">
                <a:solidFill>
                  <a:srgbClr val="F8FAFC"/>
                </a:solidFill>
              </a:defRPr>
            </a:pPr>
            <a:r>
              <a:t>• 23/12 (Neutra): θe_sfc = 354.8 K, umedecimento da coluna, mas gradiente vertical fraco.</a:t>
            </a:r>
          </a:p>
          <a:p>
            <a:pPr>
              <a:spcBef>
                <a:spcPts val="200"/>
              </a:spcBef>
              <a:defRPr sz="919">
                <a:solidFill>
                  <a:srgbClr val="F8FAFC"/>
                </a:solidFill>
              </a:defRPr>
            </a:pPr>
            <a:r>
              <a:t>• 24/12 (Severa): Injeção colossal de θe = 377.8 K pelo JBN em 925 hPa com forte gradiente ∂θe/∂z &lt; 0 (instabilidade potencial severa).</a:t>
            </a:r>
          </a:p>
          <a:p>
            <a:pPr>
              <a:spcBef>
                <a:spcPts val="600"/>
              </a:spcBef>
              <a:defRPr sz="1100" b="1">
                <a:solidFill>
                  <a:srgbClr val="A78BFA"/>
                </a:solidFill>
              </a:defRPr>
            </a:pPr>
            <a:r>
              <a:t>Frequência de Brunt-Väisälä (N) &amp; Capping Lid:</a:t>
            </a:r>
          </a:p>
          <a:p>
            <a:pPr>
              <a:spcBef>
                <a:spcPts val="200"/>
              </a:spcBef>
              <a:defRPr sz="919">
                <a:solidFill>
                  <a:srgbClr val="F8FAFC"/>
                </a:solidFill>
              </a:defRPr>
            </a:pPr>
            <a:r>
              <a:t>• N² = (g / θv) · (∂θv / ∂z) quantifica a rigidez de oscilação das ondas de gravidade.</a:t>
            </a:r>
          </a:p>
          <a:p>
            <a:pPr>
              <a:spcBef>
                <a:spcPts val="200"/>
              </a:spcBef>
              <a:defRPr sz="919">
                <a:solidFill>
                  <a:srgbClr val="F8FAFC"/>
                </a:solidFill>
              </a:defRPr>
            </a:pPr>
            <a:r>
              <a:t>• 12/12 &amp; 23/12: Sem inversão expressiva em baixos níveis.</a:t>
            </a:r>
          </a:p>
          <a:p>
            <a:pPr>
              <a:spcBef>
                <a:spcPts val="200"/>
              </a:spcBef>
              <a:defRPr sz="919">
                <a:solidFill>
                  <a:srgbClr val="F8FAFC"/>
                </a:solidFill>
              </a:defRPr>
            </a:pPr>
            <a:r>
              <a:t>• 24/12: Pico agudo de N em 925 hPa (~0.028 s⁻¹) formando o Capping Lid (tampa de panela de pressão que conteve a convecção até o disparo explosivo).</a:t>
            </a:r>
          </a:p>
          <a:p>
            <a:pPr>
              <a:spcBef>
                <a:spcPts val="600"/>
              </a:spcBef>
              <a:defRPr sz="1100" b="1">
                <a:solidFill>
                  <a:srgbClr val="FBBF24"/>
                </a:solidFill>
              </a:defRPr>
            </a:pPr>
            <a:r>
              <a:t>Estabilidade Estática (S) &amp; Razão de Mistura (r):</a:t>
            </a:r>
          </a:p>
          <a:p>
            <a:pPr>
              <a:spcBef>
                <a:spcPts val="200"/>
              </a:spcBef>
              <a:defRPr sz="919">
                <a:solidFill>
                  <a:srgbClr val="F8FAFC"/>
                </a:solidFill>
              </a:defRPr>
            </a:pPr>
            <a:r>
              <a:t>• 12/12: r_max = 11.6 g/kg | PW = 35.1 mm (ar pós-frontal seco).</a:t>
            </a:r>
          </a:p>
          <a:p>
            <a:pPr>
              <a:spcBef>
                <a:spcPts val="200"/>
              </a:spcBef>
              <a:defRPr sz="919">
                <a:solidFill>
                  <a:srgbClr val="F8FAFC"/>
                </a:solidFill>
              </a:defRPr>
            </a:pPr>
            <a:r>
              <a:t>• 23/12: r_max = 19.4 g/kg | PW = 57.0 mm (advecção tropical).</a:t>
            </a:r>
          </a:p>
          <a:p>
            <a:pPr>
              <a:spcBef>
                <a:spcPts val="200"/>
              </a:spcBef>
              <a:defRPr sz="919">
                <a:solidFill>
                  <a:srgbClr val="F8FAFC"/>
                </a:solidFill>
              </a:defRPr>
            </a:pPr>
            <a:r>
              <a:t>• 24/12: r_max = 22.0 g/kg em 925 hPa | PW = 55.3 mm (núcleo extremo de vapor alimentado pelo JBN).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10 - 14 min  |  Slide 7/10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Umidade Troposférica &amp; Potencial de Downbursts</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Razão de Mistura r(z), Água Precipitável (PW) e Downdraft CAPE (DCAPE) via Resfriamento Evaporativo</a:t>
            </a:r>
          </a:p>
        </p:txBody>
      </p:sp>
      <p:pic>
        <p:nvPicPr>
          <p:cNvPr id="7" name="Picture 6" descr="fig_profiles_19951224.png"/>
          <p:cNvPicPr>
            <a:picLocks noChangeAspect="1"/>
          </p:cNvPicPr>
          <p:nvPr/>
        </p:nvPicPr>
        <p:blipFill>
          <a:blip r:embed="rId2"/>
          <a:stretch>
            <a:fillRect/>
          </a:stretch>
        </p:blipFill>
        <p:spPr>
          <a:xfrm>
            <a:off x="731520" y="1600200"/>
            <a:ext cx="6583680" cy="2725391"/>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Razão de Mistura Extrema (r):</a:t>
            </a:r>
          </a:p>
          <a:p>
            <a:pPr>
              <a:spcBef>
                <a:spcPts val="200"/>
              </a:spcBef>
              <a:defRPr sz="950">
                <a:solidFill>
                  <a:srgbClr val="F8FAFC"/>
                </a:solidFill>
              </a:defRPr>
            </a:pPr>
            <a:r>
              <a:t>• Superfície: r = 18.0 g/kg.</a:t>
            </a:r>
          </a:p>
          <a:p>
            <a:pPr>
              <a:spcBef>
                <a:spcPts val="200"/>
              </a:spcBef>
              <a:defRPr sz="950">
                <a:solidFill>
                  <a:srgbClr val="F8FAFC"/>
                </a:solidFill>
              </a:defRPr>
            </a:pPr>
            <a:r>
              <a:t>• Pico do JBN (925 hPa): r = 22.02 g/kg (valor excepcional para o Sul do Brasil, característico de massas equatoriais).</a:t>
            </a:r>
          </a:p>
          <a:p>
            <a:pPr>
              <a:spcBef>
                <a:spcPts val="200"/>
              </a:spcBef>
              <a:defRPr sz="950">
                <a:solidFill>
                  <a:srgbClr val="F8FAFC"/>
                </a:solidFill>
              </a:defRPr>
            </a:pPr>
            <a:r>
              <a:t>• Decaimento abrupto acima de 700 hPa, criando contraste com ar seco em médios níveis.</a:t>
            </a:r>
          </a:p>
          <a:p>
            <a:pPr>
              <a:spcBef>
                <a:spcPts val="600"/>
              </a:spcBef>
              <a:defRPr sz="1100" b="1">
                <a:solidFill>
                  <a:srgbClr val="34D399"/>
                </a:solidFill>
              </a:defRPr>
            </a:pPr>
            <a:r>
              <a:t>Água Precipitável Total (PW):</a:t>
            </a:r>
          </a:p>
          <a:p>
            <a:pPr>
              <a:spcBef>
                <a:spcPts val="200"/>
              </a:spcBef>
              <a:defRPr sz="950">
                <a:solidFill>
                  <a:srgbClr val="F8FAFC"/>
                </a:solidFill>
              </a:defRPr>
            </a:pPr>
            <a:r>
              <a:t>• PW = (1/g) ∫ q dp = 52.4 mm.</a:t>
            </a:r>
          </a:p>
          <a:p>
            <a:pPr>
              <a:spcBef>
                <a:spcPts val="200"/>
              </a:spcBef>
              <a:defRPr sz="950">
                <a:solidFill>
                  <a:srgbClr val="F8FAFC"/>
                </a:solidFill>
              </a:defRPr>
            </a:pPr>
            <a:r>
              <a:t>• Percentil &gt; 95% para Porto Alegre no mês de dezembro.</a:t>
            </a:r>
          </a:p>
          <a:p>
            <a:pPr>
              <a:spcBef>
                <a:spcPts val="200"/>
              </a:spcBef>
              <a:defRPr sz="950">
                <a:solidFill>
                  <a:srgbClr val="F8FAFC"/>
                </a:solidFill>
              </a:defRPr>
            </a:pPr>
            <a:r>
              <a:t>• Indica alto potencial de precipitação torrencial horária (&gt; 60 mm/h) e inundações repentinas.</a:t>
            </a:r>
          </a:p>
          <a:p>
            <a:pPr>
              <a:spcBef>
                <a:spcPts val="600"/>
              </a:spcBef>
              <a:defRPr sz="1100" b="1">
                <a:solidFill>
                  <a:srgbClr val="F87171"/>
                </a:solidFill>
              </a:defRPr>
            </a:pPr>
            <a:r>
              <a:t>Downdraft CAPE (DCAPE = 1.149 J/kg):</a:t>
            </a:r>
          </a:p>
          <a:p>
            <a:pPr>
              <a:spcBef>
                <a:spcPts val="200"/>
              </a:spcBef>
              <a:defRPr sz="950">
                <a:solidFill>
                  <a:srgbClr val="F8FAFC"/>
                </a:solidFill>
              </a:defRPr>
            </a:pPr>
            <a:r>
              <a:t>• Medida do empuxo negativo gerado pelo resfriamento evaporativo da chuva em ar não saturado a 650 hPa.</a:t>
            </a:r>
          </a:p>
          <a:p>
            <a:pPr>
              <a:spcBef>
                <a:spcPts val="200"/>
              </a:spcBef>
              <a:defRPr sz="950">
                <a:solidFill>
                  <a:srgbClr val="F8FAFC"/>
                </a:solidFill>
              </a:defRPr>
            </a:pPr>
            <a:r>
              <a:t>• Velocidade teórica da descendente: W_down = √(2 · DCAPE) ≈ 47.9 m/s (~172 km/h).</a:t>
            </a:r>
          </a:p>
          <a:p>
            <a:pPr>
              <a:spcBef>
                <a:spcPts val="200"/>
              </a:spcBef>
              <a:defRPr sz="950">
                <a:solidFill>
                  <a:srgbClr val="F8FAFC"/>
                </a:solidFill>
              </a:defRPr>
            </a:pPr>
            <a:r>
              <a:t>• Ambiente altamente propício a Microbursts úmidos e frentes de rajada violentas ao atingir o solo.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14 - 17 min  |  Slide 8/10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Cinemática &amp; Dinâmica: Hodógrafo, JBN e Helicidade (SRH)</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Curvatura do Vento na Baixa Troposfera e Cisalhamento Vertical Suportando Supercélulas de Alta Precipitação</a:t>
            </a:r>
          </a:p>
        </p:txBody>
      </p:sp>
      <p:pic>
        <p:nvPicPr>
          <p:cNvPr id="7" name="Picture 6" descr="fig_kinematics_hodograph.png"/>
          <p:cNvPicPr>
            <a:picLocks noChangeAspect="1"/>
          </p:cNvPicPr>
          <p:nvPr/>
        </p:nvPicPr>
        <p:blipFill>
          <a:blip r:embed="rId2"/>
          <a:stretch>
            <a:fillRect/>
          </a:stretch>
        </p:blipFill>
        <p:spPr>
          <a:xfrm>
            <a:off x="731520" y="1600200"/>
            <a:ext cx="6583680" cy="5860716"/>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FBBF24"/>
                </a:solidFill>
              </a:defRPr>
            </a:pPr>
            <a:r>
              <a:t>Jato em Baixos Níveis (JBN) em 925 hPa:</a:t>
            </a:r>
          </a:p>
          <a:p>
            <a:pPr>
              <a:spcBef>
                <a:spcPts val="200"/>
              </a:spcBef>
              <a:defRPr sz="950">
                <a:solidFill>
                  <a:srgbClr val="F8FAFC"/>
                </a:solidFill>
              </a:defRPr>
            </a:pPr>
            <a:r>
              <a:t>• Vento de 44 nós (23.2 m/s) de direção 60° (ENE).</a:t>
            </a:r>
          </a:p>
          <a:p>
            <a:pPr>
              <a:spcBef>
                <a:spcPts val="200"/>
              </a:spcBef>
              <a:defRPr sz="950">
                <a:solidFill>
                  <a:srgbClr val="F8FAFC"/>
                </a:solidFill>
              </a:defRPr>
            </a:pPr>
            <a:r>
              <a:t>• Gera curvatura anticiclônica proeminente no hodógrafo nos primeiros 1.500 m.</a:t>
            </a:r>
          </a:p>
          <a:p>
            <a:pPr>
              <a:spcBef>
                <a:spcPts val="200"/>
              </a:spcBef>
              <a:defRPr sz="950">
                <a:solidFill>
                  <a:srgbClr val="F8FAFC"/>
                </a:solidFill>
              </a:defRPr>
            </a:pPr>
            <a:r>
              <a:t>• No Hemisfério Sul, giro do vento no sentido horário com a altura favorece supercélulas de rotação ciclônica.</a:t>
            </a:r>
          </a:p>
          <a:p>
            <a:pPr>
              <a:spcBef>
                <a:spcPts val="600"/>
              </a:spcBef>
              <a:defRPr sz="1100" b="1">
                <a:solidFill>
                  <a:srgbClr val="38BDF8"/>
                </a:solidFill>
              </a:defRPr>
            </a:pPr>
            <a:r>
              <a:t>Cisalhamento Vertical Profundo (Bulk Shear 0-6 km):</a:t>
            </a:r>
          </a:p>
          <a:p>
            <a:pPr>
              <a:spcBef>
                <a:spcPts val="200"/>
              </a:spcBef>
              <a:defRPr sz="950">
                <a:solidFill>
                  <a:srgbClr val="F8FAFC"/>
                </a:solidFill>
              </a:defRPr>
            </a:pPr>
            <a:r>
              <a:t>• Magnitude: 28.7 m/s (55.8 nós).</a:t>
            </a:r>
          </a:p>
          <a:p>
            <a:pPr>
              <a:spcBef>
                <a:spcPts val="200"/>
              </a:spcBef>
              <a:defRPr sz="950">
                <a:solidFill>
                  <a:srgbClr val="F8FAFC"/>
                </a:solidFill>
              </a:defRPr>
            </a:pPr>
            <a:r>
              <a:t>• Limiar clássico de supercélulas é &gt; 20 m/s (Markowski &amp; Richardson, 2010).</a:t>
            </a:r>
          </a:p>
          <a:p>
            <a:pPr>
              <a:spcBef>
                <a:spcPts val="200"/>
              </a:spcBef>
              <a:defRPr sz="950">
                <a:solidFill>
                  <a:srgbClr val="F8FAFC"/>
                </a:solidFill>
              </a:defRPr>
            </a:pPr>
            <a:r>
              <a:t>• Garante a separação física entre a corrente ascendente e as correntes descendentes de precipitação.</a:t>
            </a:r>
          </a:p>
          <a:p>
            <a:pPr>
              <a:spcBef>
                <a:spcPts val="600"/>
              </a:spcBef>
              <a:defRPr sz="1100" b="1">
                <a:solidFill>
                  <a:srgbClr val="34D399"/>
                </a:solidFill>
              </a:defRPr>
            </a:pPr>
            <a:r>
              <a:t>Helicidade Relativa à Tempestade (SRH):</a:t>
            </a:r>
          </a:p>
          <a:p>
            <a:pPr>
              <a:spcBef>
                <a:spcPts val="200"/>
              </a:spcBef>
              <a:defRPr sz="950">
                <a:solidFill>
                  <a:srgbClr val="F8FAFC"/>
                </a:solidFill>
              </a:defRPr>
            </a:pPr>
            <a:r>
              <a:t>• SRH 0-1 km: 158 m²/s² | SRH 0-3 km: 245 m²/s².</a:t>
            </a:r>
          </a:p>
          <a:p>
            <a:pPr>
              <a:spcBef>
                <a:spcPts val="200"/>
              </a:spcBef>
              <a:defRPr sz="950">
                <a:solidFill>
                  <a:srgbClr val="F8FAFC"/>
                </a:solidFill>
              </a:defRPr>
            </a:pPr>
            <a:r>
              <a:t>• Valores &gt; 150-200 m²/s² fornecem influxo contínuo de vorticidade streamwise à corrente ascendente.</a:t>
            </a:r>
          </a:p>
          <a:p>
            <a:pPr>
              <a:spcBef>
                <a:spcPts val="200"/>
              </a:spcBef>
              <a:defRPr sz="950">
                <a:solidFill>
                  <a:srgbClr val="F8FAFC"/>
                </a:solidFill>
              </a:defRPr>
            </a:pPr>
            <a:r>
              <a:t>• Bulk Richardson Number: BRN = 34.2 (faixa ideal para supercélulas isoladas e multicélulas severas).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17 - 20 min  |  Slide 9/10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Síntese dos Gatilhos de Mesoescala &amp; Modo Convectivo</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Modelo Conceitual: Supercélula de Alta Precipitação (HP) com Transição para Linha de Instabilidade</a:t>
            </a:r>
          </a:p>
        </p:txBody>
      </p:sp>
      <p:pic>
        <p:nvPicPr>
          <p:cNvPr id="7" name="Picture 6" descr="fig_esquema_supercelula_hp.png"/>
          <p:cNvPicPr>
            <a:picLocks noChangeAspect="1"/>
          </p:cNvPicPr>
          <p:nvPr/>
        </p:nvPicPr>
        <p:blipFill>
          <a:blip r:embed="rId2"/>
          <a:stretch>
            <a:fillRect/>
          </a:stretch>
        </p:blipFill>
        <p:spPr>
          <a:xfrm>
            <a:off x="731520" y="1600200"/>
            <a:ext cx="6583680" cy="4751299"/>
          </a:xfrm>
          <a:prstGeom prst="rect">
            <a:avLst/>
          </a:prstGeom>
        </p:spPr>
      </p:pic>
      <p:sp>
        <p:nvSpPr>
          <p:cNvPr id="8" name="Rounded Rectangle 7"/>
          <p:cNvSpPr/>
          <p:nvPr/>
        </p:nvSpPr>
        <p:spPr>
          <a:xfrm>
            <a:off x="7498079" y="1600200"/>
            <a:ext cx="3977639"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0" y="1737360"/>
            <a:ext cx="3611880" cy="4434840"/>
          </a:xfrm>
          <a:prstGeom prst="rect">
            <a:avLst/>
          </a:prstGeom>
          <a:noFill/>
        </p:spPr>
        <p:txBody>
          <a:bodyPr wrap="square">
            <a:spAutoFit/>
          </a:bodyPr>
          <a:lstStyle/>
          <a:p>
            <a:pPr>
              <a:spcBef>
                <a:spcPts val="600"/>
              </a:spcBef>
              <a:defRPr sz="1100" b="1">
                <a:solidFill>
                  <a:srgbClr val="38BDF8"/>
                </a:solidFill>
              </a:defRPr>
            </a:pPr>
            <a:r>
              <a:t>Matriz de Gatilhos de Mesoescala:</a:t>
            </a:r>
          </a:p>
          <a:p>
            <a:pPr>
              <a:spcBef>
                <a:spcPts val="200"/>
              </a:spcBef>
              <a:defRPr sz="950">
                <a:solidFill>
                  <a:srgbClr val="F8FAFC"/>
                </a:solidFill>
              </a:defRPr>
            </a:pPr>
            <a:r>
              <a:t>• 1. Gatilho Dinâmico: Difluência e CVA em 500 hPa gerando ascensão sinótica.</a:t>
            </a:r>
          </a:p>
          <a:p>
            <a:pPr>
              <a:spcBef>
                <a:spcPts val="200"/>
              </a:spcBef>
              <a:defRPr sz="950">
                <a:solidFill>
                  <a:srgbClr val="F8FAFC"/>
                </a:solidFill>
              </a:defRPr>
            </a:pPr>
            <a:r>
              <a:t>• 2. Gatilho Termodinâmico: Rompimento do Capping Lid em 925 hPa por aquecimento diurno e convergência no JBN.</a:t>
            </a:r>
          </a:p>
          <a:p>
            <a:pPr>
              <a:spcBef>
                <a:spcPts val="200"/>
              </a:spcBef>
              <a:defRPr sz="950">
                <a:solidFill>
                  <a:srgbClr val="F8FAFC"/>
                </a:solidFill>
              </a:defRPr>
            </a:pPr>
            <a:r>
              <a:t>• 3. Fonte de Umidade: Fluxo de θe &gt; 350 K e r = 22 g/kg suprido ininterruptamente.</a:t>
            </a:r>
          </a:p>
          <a:p>
            <a:pPr>
              <a:spcBef>
                <a:spcPts val="600"/>
              </a:spcBef>
              <a:defRPr sz="1100" b="1">
                <a:solidFill>
                  <a:srgbClr val="F87171"/>
                </a:solidFill>
              </a:defRPr>
            </a:pPr>
            <a:r>
              <a:t>Classificação do Modo Convectivo:</a:t>
            </a:r>
          </a:p>
          <a:p>
            <a:pPr>
              <a:spcBef>
                <a:spcPts val="200"/>
              </a:spcBef>
              <a:defRPr sz="950">
                <a:solidFill>
                  <a:srgbClr val="F8FAFC"/>
                </a:solidFill>
              </a:defRPr>
            </a:pPr>
            <a:r>
              <a:t>• Alto CAPE (&gt; 3.800 J/kg) + Alto Cisalhamento 0-6 km (28.7 m/s) = Supercélula.</a:t>
            </a:r>
          </a:p>
          <a:p>
            <a:pPr>
              <a:spcBef>
                <a:spcPts val="200"/>
              </a:spcBef>
              <a:defRPr sz="950">
                <a:solidFill>
                  <a:srgbClr val="F8FAFC"/>
                </a:solidFill>
              </a:defRPr>
            </a:pPr>
            <a:r>
              <a:t>• PW Extremo (52.4 mm) + Alto DCAPE (1.149 J/kg) = Subtipo de Alta Precipitação (HP Supercell).</a:t>
            </a:r>
          </a:p>
          <a:p>
            <a:pPr>
              <a:spcBef>
                <a:spcPts val="200"/>
              </a:spcBef>
              <a:defRPr sz="950">
                <a:solidFill>
                  <a:srgbClr val="F8FAFC"/>
                </a:solidFill>
              </a:defRPr>
            </a:pPr>
            <a:r>
              <a:t>• O mesociclone fica envolto por cortinas pesadas de chuva torrencial e granizo.</a:t>
            </a:r>
          </a:p>
          <a:p>
            <a:pPr>
              <a:spcBef>
                <a:spcPts val="600"/>
              </a:spcBef>
              <a:defRPr sz="1100" b="1">
                <a:solidFill>
                  <a:srgbClr val="FBBF24"/>
                </a:solidFill>
              </a:defRPr>
            </a:pPr>
            <a:r>
              <a:t>Evolução para Linha de Instabilidade:</a:t>
            </a:r>
          </a:p>
          <a:p>
            <a:pPr>
              <a:spcBef>
                <a:spcPts val="200"/>
              </a:spcBef>
              <a:defRPr sz="950">
                <a:solidFill>
                  <a:srgbClr val="F8FAFC"/>
                </a:solidFill>
              </a:defRPr>
            </a:pPr>
            <a:r>
              <a:t>• O alto DCAPE gera piscinas frias (cold pools) densas e frentes de rajada vigorosas.</a:t>
            </a:r>
          </a:p>
          <a:p>
            <a:pPr>
              <a:spcBef>
                <a:spcPts val="200"/>
              </a:spcBef>
              <a:defRPr sz="950">
                <a:solidFill>
                  <a:srgbClr val="F8FAFC"/>
                </a:solidFill>
              </a:defRPr>
            </a:pPr>
            <a:r>
              <a:t>• A rápida coalescência das piscinas frias promove a transição da supercélula para Linha de Instabilidade / CCM em poucas horas.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3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56032"/>
            <a:ext cx="6858000" cy="365760"/>
          </a:xfrm>
          <a:prstGeom prst="rect">
            <a:avLst/>
          </a:prstGeom>
          <a:noFill/>
        </p:spPr>
        <p:txBody>
          <a:bodyPr wrap="square" lIns="0" tIns="0" rIns="0" bIns="0">
            <a:spAutoFit/>
          </a:bodyPr>
          <a:lstStyle/>
          <a:p>
            <a:pPr>
              <a:defRPr sz="950" b="1">
                <a:solidFill>
                  <a:srgbClr val="38BDF8"/>
                </a:solidFill>
              </a:defRPr>
            </a:pPr>
            <a:r>
              <a:t>UFSC  •  FSC7116 METEOROLOGIA DE MESOESCALA  •  PROF. REINALDO HAAS</a:t>
            </a:r>
          </a:p>
        </p:txBody>
      </p:sp>
      <p:sp>
        <p:nvSpPr>
          <p:cNvPr id="4" name="Rounded Rectangle 3"/>
          <p:cNvSpPr/>
          <p:nvPr/>
        </p:nvSpPr>
        <p:spPr>
          <a:xfrm>
            <a:off x="8961120" y="228600"/>
            <a:ext cx="2514600" cy="384048"/>
          </a:xfrm>
          <a:prstGeom prst="roundRect">
            <a:avLst/>
          </a:prstGeom>
          <a:solidFill>
            <a:srgbClr val="1E293B"/>
          </a:solidFill>
          <a:ln w="12700">
            <a:solidFill>
              <a:srgbClr val="FBBF24"/>
            </a:solidFill>
          </a:ln>
        </p:spPr>
        <p:style>
          <a:lnRef idx="1">
            <a:schemeClr val="accent1"/>
          </a:lnRef>
          <a:fillRef idx="3">
            <a:schemeClr val="accent1"/>
          </a:fillRef>
          <a:effectRef idx="2">
            <a:schemeClr val="accent1"/>
          </a:effectRef>
          <a:fontRef idx="minor">
            <a:schemeClr val="lt1"/>
          </a:fontRef>
        </p:style>
        <p:txBody>
          <a:bodyPr rtlCol="0" anchor="ctr" lIns="0" tIns="0" rIns="0" bIns="0"/>
          <a:lstStyle/>
          <a:p>
            <a:pPr algn="ctr">
              <a:defRPr sz="950" b="1">
                <a:solidFill>
                  <a:srgbClr val="FBBF24"/>
                </a:solidFill>
              </a:defRPr>
            </a:pPr>
            <a:r>
              <a:t>⏱️  17 - 20 min  |  Slide 10/10</a:t>
            </a:r>
          </a:p>
        </p:txBody>
      </p:sp>
      <p:sp>
        <p:nvSpPr>
          <p:cNvPr id="5" name="TextBox 4"/>
          <p:cNvSpPr txBox="1"/>
          <p:nvPr/>
        </p:nvSpPr>
        <p:spPr>
          <a:xfrm>
            <a:off x="731520" y="621792"/>
            <a:ext cx="10789920" cy="548640"/>
          </a:xfrm>
          <a:prstGeom prst="rect">
            <a:avLst/>
          </a:prstGeom>
          <a:noFill/>
        </p:spPr>
        <p:txBody>
          <a:bodyPr wrap="square" lIns="0" tIns="0" rIns="0" bIns="0">
            <a:spAutoFit/>
          </a:bodyPr>
          <a:lstStyle/>
          <a:p>
            <a:pPr>
              <a:defRPr sz="2000" b="1">
                <a:solidFill>
                  <a:srgbClr val="F8FAFC"/>
                </a:solidFill>
              </a:defRPr>
            </a:pPr>
            <a:r>
              <a:t>Conclusão &amp; Fechamento para Arguição da Banca</a:t>
            </a:r>
          </a:p>
        </p:txBody>
      </p:sp>
      <p:sp>
        <p:nvSpPr>
          <p:cNvPr id="6" name="TextBox 5"/>
          <p:cNvSpPr txBox="1"/>
          <p:nvPr/>
        </p:nvSpPr>
        <p:spPr>
          <a:xfrm>
            <a:off x="731520" y="1115568"/>
            <a:ext cx="10789920" cy="320040"/>
          </a:xfrm>
          <a:prstGeom prst="rect">
            <a:avLst/>
          </a:prstGeom>
          <a:noFill/>
        </p:spPr>
        <p:txBody>
          <a:bodyPr wrap="square" lIns="0" tIns="0" rIns="0" bIns="0">
            <a:spAutoFit/>
          </a:bodyPr>
          <a:lstStyle/>
          <a:p>
            <a:pPr>
              <a:defRPr sz="1150">
                <a:solidFill>
                  <a:srgbClr val="94A3B8"/>
                </a:solidFill>
              </a:defRPr>
            </a:pPr>
            <a:r>
              <a:t>Resumo Quantitativo dos Parâmetros Diagnósticos, Bibliografia Citada e Abertura para Perguntas</a:t>
            </a:r>
          </a:p>
        </p:txBody>
      </p:sp>
      <p:sp>
        <p:nvSpPr>
          <p:cNvPr id="7" name="Rounded Rectangle 6"/>
          <p:cNvSpPr/>
          <p:nvPr/>
        </p:nvSpPr>
        <p:spPr>
          <a:xfrm>
            <a:off x="731520" y="1600200"/>
            <a:ext cx="5303520"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5029200" cy="4434840"/>
          </a:xfrm>
          <a:prstGeom prst="rect">
            <a:avLst/>
          </a:prstGeom>
          <a:noFill/>
        </p:spPr>
        <p:txBody>
          <a:bodyPr wrap="square">
            <a:spAutoFit/>
          </a:bodyPr>
          <a:lstStyle/>
          <a:p>
            <a:pPr>
              <a:defRPr sz="1150" b="1">
                <a:solidFill>
                  <a:srgbClr val="FBBF24"/>
                </a:solidFill>
              </a:defRPr>
            </a:pPr>
            <a:r>
              <a:t>Tabela Resumo dos Parâmetros Diagnósticos (SBPA):</a:t>
            </a:r>
          </a:p>
          <a:p>
            <a:pPr>
              <a:spcBef>
                <a:spcPts val="300"/>
              </a:spcBef>
              <a:defRPr sz="950">
                <a:solidFill>
                  <a:srgbClr val="F8FAFC"/>
                </a:solidFill>
              </a:defRPr>
            </a:pPr>
            <a:r>
              <a:t>• SBCAPE / MUCAPE: </a:t>
            </a:r>
            <a:r>
              <a:rPr b="1">
                <a:solidFill>
                  <a:srgbClr val="F87171"/>
                </a:solidFill>
              </a:rPr>
              <a:t>1.862 J/kg  /  4.645 J/kg</a:t>
            </a:r>
          </a:p>
          <a:p>
            <a:pPr>
              <a:spcBef>
                <a:spcPts val="300"/>
              </a:spcBef>
              <a:defRPr sz="950">
                <a:solidFill>
                  <a:srgbClr val="F8FAFC"/>
                </a:solidFill>
              </a:defRPr>
            </a:pPr>
            <a:r>
              <a:t>• SBCIN / MUCIN: </a:t>
            </a:r>
            <a:r>
              <a:rPr b="1">
                <a:solidFill>
                  <a:srgbClr val="38BDF8"/>
                </a:solidFill>
              </a:rPr>
              <a:t>-185 J/kg  /  -6.5 J/kg</a:t>
            </a:r>
          </a:p>
          <a:p>
            <a:pPr>
              <a:spcBef>
                <a:spcPts val="300"/>
              </a:spcBef>
              <a:defRPr sz="950">
                <a:solidFill>
                  <a:srgbClr val="F8FAFC"/>
                </a:solidFill>
              </a:defRPr>
            </a:pPr>
            <a:r>
              <a:t>• Emanuel CAPE (Reversível): </a:t>
            </a:r>
            <a:r>
              <a:rPr b="1">
                <a:solidFill>
                  <a:srgbClr val="34D399"/>
                </a:solidFill>
              </a:rPr>
              <a:t>3.832 J/kg (Water Loading: -340 J/kg)</a:t>
            </a:r>
          </a:p>
          <a:p>
            <a:pPr>
              <a:spcBef>
                <a:spcPts val="300"/>
              </a:spcBef>
              <a:defRPr sz="950">
                <a:solidFill>
                  <a:srgbClr val="F8FAFC"/>
                </a:solidFill>
              </a:defRPr>
            </a:pPr>
            <a:r>
              <a:t>• Downdraft CAPE (DCAPE): </a:t>
            </a:r>
            <a:r>
              <a:rPr b="1">
                <a:solidFill>
                  <a:srgbClr val="F87171"/>
                </a:solidFill>
              </a:rPr>
              <a:t>1.149 J/kg  (W_down ≈ 47.9 m/s)</a:t>
            </a:r>
          </a:p>
          <a:p>
            <a:pPr>
              <a:spcBef>
                <a:spcPts val="300"/>
              </a:spcBef>
              <a:defRPr sz="950">
                <a:solidFill>
                  <a:srgbClr val="F8FAFC"/>
                </a:solidFill>
              </a:defRPr>
            </a:pPr>
            <a:r>
              <a:t>• Água Precipitável (PW): </a:t>
            </a:r>
            <a:r>
              <a:rPr b="1">
                <a:solidFill>
                  <a:srgbClr val="38BDF8"/>
                </a:solidFill>
              </a:rPr>
              <a:t>52.4 mm (Percentil &gt; 95%)</a:t>
            </a:r>
          </a:p>
          <a:p>
            <a:pPr>
              <a:spcBef>
                <a:spcPts val="300"/>
              </a:spcBef>
              <a:defRPr sz="950">
                <a:solidFill>
                  <a:srgbClr val="F8FAFC"/>
                </a:solidFill>
              </a:defRPr>
            </a:pPr>
            <a:r>
              <a:t>• Razão de Mistura Máx (925 hPa): </a:t>
            </a:r>
            <a:r>
              <a:rPr b="1">
                <a:solidFill>
                  <a:srgbClr val="38BDF8"/>
                </a:solidFill>
              </a:rPr>
              <a:t>22.02 g/kg (Alimentação pelo JBN)</a:t>
            </a:r>
          </a:p>
          <a:p>
            <a:pPr>
              <a:spcBef>
                <a:spcPts val="300"/>
              </a:spcBef>
              <a:defRPr sz="950">
                <a:solidFill>
                  <a:srgbClr val="F8FAFC"/>
                </a:solidFill>
              </a:defRPr>
            </a:pPr>
            <a:r>
              <a:t>• JBN em 925 hPa: </a:t>
            </a:r>
            <a:r>
              <a:rPr b="1">
                <a:solidFill>
                  <a:srgbClr val="FBBF24"/>
                </a:solidFill>
              </a:rPr>
              <a:t>44 nós (23.2 m/s) de direção 60° (ENE)</a:t>
            </a:r>
          </a:p>
          <a:p>
            <a:pPr>
              <a:spcBef>
                <a:spcPts val="300"/>
              </a:spcBef>
              <a:defRPr sz="950">
                <a:solidFill>
                  <a:srgbClr val="F8FAFC"/>
                </a:solidFill>
              </a:defRPr>
            </a:pPr>
            <a:r>
              <a:t>• Bulk Shear 0-6 km: </a:t>
            </a:r>
            <a:r>
              <a:rPr b="1">
                <a:solidFill>
                  <a:srgbClr val="34D399"/>
                </a:solidFill>
              </a:rPr>
              <a:t>28.7 m/s (55.8 kt) [Supercélulas]</a:t>
            </a:r>
          </a:p>
          <a:p>
            <a:pPr>
              <a:spcBef>
                <a:spcPts val="300"/>
              </a:spcBef>
              <a:defRPr sz="950">
                <a:solidFill>
                  <a:srgbClr val="F8FAFC"/>
                </a:solidFill>
              </a:defRPr>
            </a:pPr>
            <a:r>
              <a:t>• Helicidade SRH 0-3 km: </a:t>
            </a:r>
            <a:r>
              <a:rPr b="1">
                <a:solidFill>
                  <a:srgbClr val="34D399"/>
                </a:solidFill>
              </a:rPr>
              <a:t>245 m²/s² (Rotação Ciclônica no HS)</a:t>
            </a:r>
          </a:p>
          <a:p>
            <a:pPr>
              <a:spcBef>
                <a:spcPts val="300"/>
              </a:spcBef>
              <a:defRPr sz="950">
                <a:solidFill>
                  <a:srgbClr val="F8FAFC"/>
                </a:solidFill>
              </a:defRPr>
            </a:pPr>
            <a:r>
              <a:t>• Bulk Richardson Number (BRN): </a:t>
            </a:r>
            <a:r>
              <a:rPr b="1">
                <a:solidFill>
                  <a:srgbClr val="F8FAFC"/>
                </a:solidFill>
              </a:rPr>
              <a:t>34.2 (Ambiente Supercelular)</a:t>
            </a:r>
          </a:p>
        </p:txBody>
      </p:sp>
      <p:sp>
        <p:nvSpPr>
          <p:cNvPr id="9" name="Rounded Rectangle 8"/>
          <p:cNvSpPr/>
          <p:nvPr/>
        </p:nvSpPr>
        <p:spPr>
          <a:xfrm>
            <a:off x="6217920" y="1600200"/>
            <a:ext cx="5257800" cy="4709160"/>
          </a:xfrm>
          <a:prstGeom prst="roundRect">
            <a:avLst/>
          </a:prstGeom>
          <a:solidFill>
            <a:srgbClr val="131E3A"/>
          </a:solidFill>
          <a:ln w="15240">
            <a:solidFill>
              <a:srgbClr val="2E4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1737360"/>
            <a:ext cx="4892040" cy="4434840"/>
          </a:xfrm>
          <a:prstGeom prst="rect">
            <a:avLst/>
          </a:prstGeom>
          <a:noFill/>
        </p:spPr>
        <p:txBody>
          <a:bodyPr wrap="square">
            <a:spAutoFit/>
          </a:bodyPr>
          <a:lstStyle/>
          <a:p>
            <a:pPr>
              <a:defRPr sz="1150" b="1">
                <a:solidFill>
                  <a:srgbClr val="38BDF8"/>
                </a:solidFill>
              </a:defRPr>
            </a:pPr>
            <a:r>
              <a:t>Referências Bibliográficas Obrigatórias:</a:t>
            </a:r>
          </a:p>
          <a:p>
            <a:pPr>
              <a:spcBef>
                <a:spcPts val="200"/>
              </a:spcBef>
              <a:defRPr sz="850">
                <a:solidFill>
                  <a:srgbClr val="94A3B8"/>
                </a:solidFill>
              </a:defRPr>
            </a:pPr>
            <a:r>
              <a:t>• Emanuel, K. A. (1994). Atmospheric Convection. Oxford University Press, 580 pp.</a:t>
            </a:r>
          </a:p>
          <a:p>
            <a:pPr>
              <a:spcBef>
                <a:spcPts val="200"/>
              </a:spcBef>
              <a:defRPr sz="850">
                <a:solidFill>
                  <a:srgbClr val="94A3B8"/>
                </a:solidFill>
              </a:defRPr>
            </a:pPr>
            <a:r>
              <a:t>• MIT OpenCourseWare (Course 12.811). Atmospheric Convection. Massachusetts Institute of Technology.</a:t>
            </a:r>
          </a:p>
          <a:p>
            <a:pPr>
              <a:spcBef>
                <a:spcPts val="200"/>
              </a:spcBef>
              <a:defRPr sz="850">
                <a:solidFill>
                  <a:srgbClr val="94A3B8"/>
                </a:solidFill>
              </a:defRPr>
            </a:pPr>
            <a:r>
              <a:t>• Markowski, P., &amp; Richardson, Y. (2010). Mesoscale Meteorology in Midlatitudes. Wiley-Blackwell, 407 pp.</a:t>
            </a:r>
          </a:p>
          <a:p>
            <a:pPr>
              <a:spcBef>
                <a:spcPts val="200"/>
              </a:spcBef>
              <a:defRPr sz="850">
                <a:solidFill>
                  <a:srgbClr val="94A3B8"/>
                </a:solidFill>
              </a:defRPr>
            </a:pPr>
            <a:r>
              <a:t>• Doswell, C. A. III (2001). Severe Convective Storms. Meteorological Monographs, AMS.</a:t>
            </a:r>
          </a:p>
          <a:p>
            <a:pPr>
              <a:spcBef>
                <a:spcPts val="200"/>
              </a:spcBef>
              <a:defRPr sz="850">
                <a:solidFill>
                  <a:srgbClr val="94A3B8"/>
                </a:solidFill>
              </a:defRPr>
            </a:pPr>
            <a:r>
              <a:t>• MetPy Development Team (2024). MetPy: A Python Package for Meteorological Data.</a:t>
            </a:r>
          </a:p>
          <a:p>
            <a:pPr>
              <a:spcBef>
                <a:spcPts val="1000"/>
              </a:spcBef>
              <a:defRPr sz="1150" b="1">
                <a:solidFill>
                  <a:srgbClr val="34D399"/>
                </a:solidFill>
              </a:defRPr>
            </a:pPr>
            <a:r>
              <a:t>Fechamento &amp; Agradecimentos:</a:t>
            </a:r>
          </a:p>
          <a:p>
            <a:pPr>
              <a:spcBef>
                <a:spcPts val="300"/>
              </a:spcBef>
              <a:defRPr sz="950">
                <a:solidFill>
                  <a:srgbClr val="F8FAFC"/>
                </a:solidFill>
              </a:defRPr>
            </a:pPr>
            <a:r>
              <a:t>Agradeço ao Professor Dr. Reinaldo Haas pela orientação e aos membros da banca examinadora pela atenção.</a:t>
            </a:r>
            <a:br/>
            <a:br/>
            <a:r>
              <a:t>O código-fonte completo (wyoming.py, tcon.py, skewt.py, plot_meso.py e o dashboard interativo) encontra-se disponível no repositório GitHub.</a:t>
            </a:r>
            <a:br/>
            <a:br/>
            <a:r>
              <a:t>Estou à disposição para as perguntas e considerações da banca.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