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&amp; TUTORIAL DIDÁTICO (00:00 - 01:30):</a:t>
            </a:r>
          </a:p>
          <a:p>
            <a:r>
              <a:t>Bom dia aos meteorologistas e previsores da Defesa Civil de Santa Catarina, ao Professor Dr. Reinaldo Haas e aos colegas presentes.</a:t>
            </a:r>
          </a:p>
          <a:p>
            <a:r>
              <a:t>Hoje apresento o seminário de Meteorologia de Mesoescala, concebido para a defesa técnica perante os previsores da Defesa Civil de SC como diagnóstico de convecção profunda e suporte operacional à previsão de tempo severo.</a:t>
            </a:r>
          </a:p>
          <a:p/>
          <a:p>
            <a:r>
              <a:t>Conforme a diretriz da disciplina FSC7116 na UFSC, cada estudante deve selecionar três radiossondagens atmosféricas reais representando três regimes: uma atmosfera Estável, uma atmosfera Neutra (ou de transição) e uma atmosfera Instável.</a:t>
            </a:r>
          </a:p>
          <a:p>
            <a:r>
              <a:t>Essas sondagens podem ser escolhidas em datas diferentes na mesma estação — como fizemos para Porto Alegre (SBPA - 83971) em dezembro de 1995 — ou em estações diferentes.</a:t>
            </a:r>
          </a:p>
          <a:p/>
          <a:p>
            <a:r>
              <a:t>Nossa apresentação baseia-se em dados estritamente observados e calculados via MetPy e algoritmos de Kerry Emanuel (1994), gravados em métricas consolidadas e auditadas sem campos sintéticos ou valores manuais.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(01:30 - 03:00):</a:t>
            </a:r>
          </a:p>
          <a:p>
            <a:r>
              <a:t>Passando à análise do ambiente sinótico e dinâmico de 24 de dezembro de 1995 às 12Z.</a:t>
            </a:r>
          </a:p>
          <a:p>
            <a:r>
              <a:t>Conforme as regras de integridade científica, a figura sinótica analítica sintética anterior foi removida e deixamos o marcador formal para inclusão posterior de reanálise real com ERA5 ou NCEP.</a:t>
            </a:r>
          </a:p>
          <a:p/>
          <a:p>
            <a:r>
              <a:t>Os dados observados na própria radiossondagem de Porto Alegre atestam a presença de suporte dinâmico e termodinâmico relevante:</a:t>
            </a:r>
          </a:p>
          <a:p>
            <a:r>
              <a:t>Em 925 hPa, registrou-se vento de 44 nós (22.6 m/s) de quadrante ENE, indicando forte escoamento nos baixos níveis transportando umidade (PW de 55.4 mm).</a:t>
            </a:r>
          </a:p>
          <a:p>
            <a:r>
              <a:t>A confirmação dos padrões sinóticos em escala continental na América do Sul será realizada via reanálise oficial em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(03:00 - 05:00):</a:t>
            </a:r>
          </a:p>
          <a:p>
            <a:r>
              <a:t>No painel à esquerda, temos a comparação lado a lado das sondagens com Skew-T, hodógrafo e métricas de diagnóstico.</a:t>
            </a:r>
          </a:p>
          <a:p/>
          <a:p>
            <a:r>
              <a:t>Na ANÁLISE 1 (12/12/1995 12Z - Estável):</a:t>
            </a:r>
          </a:p>
          <a:p>
            <a:r>
              <a:t>A atmosfera observada exibe forte ar seco em médios níveis. O SBCAPE calculado é de apenas 15.7 J/kg e MUCAPE de 0.9 J/kg, com água precipitável de 35.1 mm.</a:t>
            </a:r>
          </a:p>
          <a:p>
            <a:r>
              <a:t>A estratificação estável inibe convecção profunda.</a:t>
            </a:r>
          </a:p>
          <a:p/>
          <a:p>
            <a:r>
              <a:t>Na ANÁLISE 2 (22/12/1995 12Z - Transição):</a:t>
            </a:r>
          </a:p>
          <a:p>
            <a:r>
              <a:t>A sondagem de 22/12 representa a transição ideal entre o regime estável e o severo. O SBCAPE e MUCAPE são de 836.0 J/kg, acompanhados por moderada inibição convectiva (SBCIN = -221.8 J/kg) e água precipitável de 43.9 mm. O cisalhamento 0-6 km é de 2.8 m/s. Trata-se de um caso clássico de equilíbrio condicional.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(05:00 - 07:00):</a:t>
            </a:r>
          </a:p>
          <a:p>
            <a:r>
              <a:t>No Skew-T à esquerda, gerado via MetPy pelo script auditado, observamos o perfil do dia 24/12/1995 12Z.</a:t>
            </a:r>
          </a:p>
          <a:p>
            <a:r>
              <a:t>Na sondagem completa oficial, o MUCAPE calculado atinge 7810.0 J/kg, originado na camada quente e úmida de 925 hPa (T = 30°C, Td = 25°C). O SBCAPE é de 1861.9 J/kg com SBCIN de -186.3 J/kg.</a:t>
            </a:r>
          </a:p>
          <a:p/>
          <a:p>
            <a:r>
              <a:t>O diagnóstico de camadas aponta taxas superadiabáticas nas camadas acima de 925 hPa: 925 a 910.5 hPa (Γ = 17.65 K/km) e 910.5 a 850 hPa (Γ = 17.88 K/km).</a:t>
            </a:r>
          </a:p>
          <a:p>
            <a:r>
              <a:t>Ao realizarmos um teste de sensibilidade sem esses níveis específicos, o MUCAPE resultante passa a ser 1860.1 J/kg e o SBCAPE 1860.1 J/kg.</a:t>
            </a:r>
          </a:p>
          <a:p>
            <a:r>
              <a:t>Apresentamos ambos os resultados lado a lado com transparência técnica para discussão com o orientador e os previsores da Defesa Civil de SC.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(07:00 - 10:00):</a:t>
            </a:r>
          </a:p>
          <a:p>
            <a:r>
              <a:t>Este slide conecta o estudo ao arcabouço teórico de Kerry Emanuel (1994) e do curso MIT OCW 12.811.</a:t>
            </a:r>
          </a:p>
          <a:p>
            <a:r>
              <a:t>À esquerda, temos os gráficos 2D gerados pelas rotinas wyoming.f / tcon.py para as três radiossondagens.</a:t>
            </a:r>
          </a:p>
          <a:p>
            <a:r>
              <a:t>A linha superior mostra a ascensão Reversível (temperatura de densidade Tρ com retenção de condensado), enquanto a linha inferior mostra a ascensão Pseudoadiabática (Tv com precipitação instantânea).</a:t>
            </a:r>
          </a:p>
          <a:p/>
          <a:p>
            <a:r>
              <a:t>Os dados do arquivo cape.out confirmam:</a:t>
            </a:r>
          </a:p>
          <a:p>
            <a:r>
              <a:t>No dia 12/12 (Estável), os valores são quase nulos (22.5 J/kg pseudoadiabático).</a:t>
            </a:r>
          </a:p>
          <a:p>
            <a:r>
              <a:t>No dia 22/12, há empuxo moderado (503.2 J/kg pseudoadiabático e -107.9 J/kg reversível).</a:t>
            </a:r>
          </a:p>
          <a:p>
            <a:r>
              <a:t>No dia 24/12, a parcela de superfície fornece 1479.7 J/kg (pseudo) e 402.0 J/kg (rev), enquanto o nível de 925 hPa sustenta valores máximos de 7781.5 J/kg e 6247.2 J/kg.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(10:00 - 12:00):</a:t>
            </a:r>
          </a:p>
          <a:p>
            <a:r>
              <a:t>No slide 6, examinamos os perfis verticais do Colab limitados ao topo de 200 hPa com legendas no topo, conforme as orientações metodológicas.</a:t>
            </a:r>
          </a:p>
          <a:p>
            <a:r>
              <a:t>O Painel 1 exibe a temperatura potencial equivalente (θe): no dia 24/12, a camada abaixo de 600 hPa exibe decréscimo vertical acentuado (∂θe/∂z &lt; 0), caracterizando instabilidade potencial profunda.</a:t>
            </a:r>
          </a:p>
          <a:p>
            <a:r>
              <a:t>No Painel 2, a frequência de Brunt-Väisälä (N) mostra a estabilidade estática perto de 925 hPa.</a:t>
            </a:r>
          </a:p>
          <a:p>
            <a:r>
              <a:t>Os Painéis 3 e 4 confirmam a estabilidade estática e a alta concentração de umidade (PW de 55.4 mm).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(12:00 - 14:00):</a:t>
            </a:r>
          </a:p>
          <a:p>
            <a:r>
              <a:t>No Slide 7, detalhamos os perfis verticais do Capítulo 2 de Kerry Emanuel (1994).</a:t>
            </a:r>
          </a:p>
          <a:p>
            <a:r>
              <a:t>O conteúdo de água precipitável (PW) é de 55.4 mm pela sondagem completa e 50.8 mm no teste de sensibilidade.</a:t>
            </a:r>
          </a:p>
          <a:p>
            <a:r>
              <a:t>Para o Downdraft CAPE (DCAPE), comparamos as três metodologias padronizadas:</a:t>
            </a:r>
          </a:p>
          <a:p>
            <a:r>
              <a:t>1. Wyoming (página INDICES): 1149.0 J/kg.</a:t>
            </a:r>
          </a:p>
          <a:p>
            <a:r>
              <a:t>2. MetPy (mpcalc.downdraft_cape, coluna integrada): 1096.8 J/kg.</a:t>
            </a:r>
          </a:p>
          <a:p>
            <a:r>
              <a:t>3. Kerry Emanuel (1994, cape.out, máximo sobre as origens): 60.7 J/kg a partir de 905 hPa (0.0 J/kg na superfície).</a:t>
            </a:r>
          </a:p>
          <a:p>
            <a:r>
              <a:t>Todas são formulações físicas legítimas documentadas na literatura.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(14:00 - 17:00):</a:t>
            </a:r>
          </a:p>
          <a:p>
            <a:r>
              <a:t>Entramos no bloco de cinemática e dinâmica do vento.</a:t>
            </a:r>
          </a:p>
          <a:p>
            <a:r>
              <a:t>O gráfico à esquerda é o hodógrafo polar gerado via MetPy a partir dos dados auditados de 24/12/1995 12Z.</a:t>
            </a:r>
          </a:p>
          <a:p>
            <a:r>
              <a:t>Em 925 hPa, o vento atinge 44 nós (22.6 m/s) de direção 60°, gerando acentuada curvatura na baixa troposfera.</a:t>
            </a:r>
          </a:p>
          <a:p/>
          <a:p>
            <a:r>
              <a:t>O cisalhamento vertical profundo (Bulk Shear 0-6 km) calculado pelo MetPy é de 12.6 m/s (24.5 kt).</a:t>
            </a:r>
          </a:p>
          <a:p>
            <a:r>
              <a:t>No Hemisfério Sul, a regra de ouro da dinâmica mesossinótica estabelece que o movimento de tempestade relevante é o Bunkers Left-Mover (LM) e a helicidade ciclônica é NEGATIVA.</a:t>
            </a:r>
          </a:p>
          <a:p>
            <a:r>
              <a:t>O cálculo rigoroso com MetPy fornece um vetor Bunkers LM de (-4.4, -3.9) m/s, resultando em SRH 0-1 km de -105.3 m²/s² e SRH 0-3 km de -123.3 m²/s².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(17:00 - 18:30):</a:t>
            </a:r>
          </a:p>
          <a:p>
            <a:r>
              <a:t>No Slide 9, discutimos o critério de resolução espacial no monitoramento por satélite meteorológico.</a:t>
            </a:r>
          </a:p>
          <a:p>
            <a:r>
              <a:t>A auditoria científica identificou que arquivos em grade de 1° (como ISCCP-H, ~110 km) realizam médias espaciais que diluem topos de nuvens convectivas de mesoescala.</a:t>
            </a:r>
          </a:p>
          <a:p>
            <a:r>
              <a:t>Topos frios de convecção severa têm escala de 5 a 20 km; ao promediar sobre uma célula de 110 km, o sinal térmico extremo é atenuado.</a:t>
            </a:r>
          </a:p>
          <a:p>
            <a:r>
              <a:t>Ressaltamos para os previsores da Defesa Civil a importância de utilizar produtos em resolução espacial condizente com a escala dos fenômenos monitorados.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(18:30 - 20:00):</a:t>
            </a:r>
          </a:p>
          <a:p>
            <a:r>
              <a:t>Chegamos à conclusão com a tabela síntese consolidada a partir do arquivo único metricas.json.</a:t>
            </a:r>
          </a:p>
          <a:p>
            <a:r>
              <a:t>Os diagnósticos demonstram o contraste entre os três regimes:</a:t>
            </a:r>
          </a:p>
          <a:p>
            <a:r>
              <a:t>1. O caso de 12/12 foi caracterizado por ausência de instabilidade (SBCAPE de 16 J/kg) e ar seco.</a:t>
            </a:r>
          </a:p>
          <a:p>
            <a:r>
              <a:t>2. O caso de 22/12 apresentou umidade intermediária e SBCAPE moderado (836 J/kg), com inibição convectiva significativa (-221.8 J/kg).</a:t>
            </a:r>
          </a:p>
          <a:p>
            <a:r>
              <a:t>3. O caso de 24/12 reuniu alto teor de vapor (55.4 mm), vento intenso em baixos níveis (44 kt em 925 hPa), bulk shear 0-6 km de 12.6 m/s e helicidade SRH 0-3 km de -123.3 m²/s² com o vetor Bunkers Left-Mover relevante para o Hemisfério Sul.</a:t>
            </a:r>
          </a:p>
          <a:p/>
          <a:p>
            <a:r>
              <a:t>Agradeço ao Professor Reinaldo Haas e aos previsores da Defesa Civil de SC. Concluo no tempo regulamentar e coloco-me à disposição para a discussão técnica e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UFSC  |  DEPARTAMENTO DE FÍSICA / CFM  |  FSC7116 METEOROLOGIA DE MESOESCALA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960120"/>
            <a:ext cx="10360152" cy="960120"/>
          </a:xfrm>
          <a:prstGeom prst="roundRect">
            <a:avLst/>
          </a:prstGeom>
          <a:solidFill>
            <a:srgbClr val="18264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2412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📖 TUTORIAL &amp; DIRETRIZ DIDÁTICA: APRESENTAÇÃO FINAL AOS PREVISORES DA DEFESA CIVIL DE SC: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Cada aluno ou grupo DEVE selecionar OBRIGATORIAMENTE TRÊS RADIOSSONDAGENS REAIS DISTINTAS contemplando 3 regimes atmosféricos:</a:t>
            </a:r>
            <a:br/>
            <a:r>
              <a:t>1) Atmosfera ESTÁVEL   |   2) Atmosfera de TRANSIÇÃO   |   3) Atmosfera INSTÁVEL</a:t>
            </a:r>
            <a:br/>
            <a:r>
              <a:t>Trabalho final apresentado perante a equipe de meteorologistas e previsores da Defesa Civil de Santa Catarina (DCSC).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Diagnóstico Físico e Termodinâmico de Mesoescala</a:t>
            </a:r>
            <a:br/>
            <a:r>
              <a:t>Três Regimes Atmosféricos Observados</a:t>
            </a:r>
          </a:p>
          <a:p>
            <a:pPr>
              <a:spcBef>
                <a:spcPts val="400"/>
              </a:spcBef>
              <a:defRPr sz="1400">
                <a:solidFill>
                  <a:srgbClr val="38BDF8"/>
                </a:solidFill>
              </a:defRPr>
            </a:pPr>
            <a:r>
              <a:t>Investigação Comparativa das 3 Sondagens de Porto Alegre (SBPA - 83971) e Algoritmos de Kerry Emanuel (1994)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📍 3 Casos Analisados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1. Estável: 12/12/1995 12Z</a:t>
            </a:r>
            <a:br/>
            <a:r>
              <a:t>2. Transição: 22/12/1995 12Z</a:t>
            </a:r>
            <a:br/>
            <a:r>
              <a:t>3. Instável: 24/12/1995 12Z</a:t>
            </a:r>
            <a:br/>
            <a:r>
              <a:t>Estação: SBPA (Porto Alegre)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⚡ Diagnóstico Auditado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Flutuabilidade e CAPE/CIN</a:t>
            </a:r>
            <a:br/>
            <a:r>
              <a:t>• Emanuel Tρ e Water Loading</a:t>
            </a:r>
            <a:br/>
            <a:r>
              <a:t>• Freq. Brunt-Väisälä N² e Estabilidade</a:t>
            </a:r>
            <a:br/>
            <a:r>
              <a:t>• Cisalhamento e Bunkers 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📚 Arcabouço Teórico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Kerry Emanuel (1994)</a:t>
            </a:r>
            <a:br/>
            <a:r>
              <a:t>• MIT OCW 12.811</a:t>
            </a:r>
            <a:br/>
            <a:r>
              <a:t>• MetPy (Algoritmos Oficiais)</a:t>
            </a:r>
            <a:br/>
            <a:r>
              <a:t>• Wyoming Sounding 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Orientador: Prof. Dr. Reinaldo Haas (UFSC)   •   Apresentação Final: Previsores da Defesa Civil de SC</a:t>
            </a:r>
          </a:p>
          <a:p>
            <a:pPr>
              <a:spcBef>
                <a:spcPts val="300"/>
              </a:spcBef>
              <a:defRPr sz="1000">
                <a:solidFill>
                  <a:srgbClr val="FBBF24"/>
                </a:solidFill>
              </a:defRPr>
            </a:pPr>
            <a:r>
              <a:t>⏱️ Tempo de Apresentação: 20 Minutos  |  Métricas Validadas a Partir de metricas.json (Sem Dados Sintéticos)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00 - 03 min  | 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Forçamento Sinótico &amp; Suporte Dinâmico de Mesoescala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Acoplamento Vertical sobre a América do Sul (500 e 850 hPa) - Configuração do Ambiente Convectivo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🗺️ CARTA SINÓTICA DE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[carta sinótica: a fazer com reanálise real]</a:t>
            </a:r>
            <a:br/>
            <a:br/>
            <a:r>
              <a:t>Auditoria de Integridade Científica:</a:t>
            </a:r>
            <a:br/>
            <a:r>
              <a:t>• Campos analíticos sintéticos anteriores foram removidos.</a:t>
            </a:r>
            <a:br/>
            <a:r>
              <a:t>• A integração de cartas reais de reanálise (ERA5 ou NCEP de 24/12/1995 12Z) será definida com a orientação do professor.</a:t>
            </a:r>
            <a:br/>
            <a:br/>
            <a:r>
              <a:t>Evidências Observacionais na Radiossondagem (SBPA):</a:t>
            </a:r>
            <a:br/>
            <a:r>
              <a:t>• Vento em 925 hPa: 44 kt (22.6 m/s) de 60° (ENE).</a:t>
            </a:r>
            <a:br/>
            <a:r>
              <a:t>• Água Precipitável Total (PW): 55.4 mm.</a:t>
            </a:r>
            <a:br/>
            <a:r>
              <a:t>• Cisalhamento 0-6 km: 12.6 m/s (24.5 kt).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Nível Médio (500 hPa) - Dados Observados: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A radiossondagem pontual em SBPA registra perfil termodinâmico vertical local e cisalhamento.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Campos e forçamentos sinóticos em grade continental requerem reanálise oficial (ERA5 / NCEP).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Baixos Níveis (850 - 925 hPa) - Advecção Úmida Observada: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Vento intenso observado em 925 hPa: 44 kt (22.6 m/s) de 60° (ENE).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Transporte de umidade na camada limite com PW = 55.4 mm.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Razão de mistura máxima observada no perfil: 22.0 g/kg (em 925 hPa).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Diretriz Metodológica: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Para diagnósticos de mesoescala, campos sinóticos devem ser obtidos de reanálises oficiais (ERA5 / NCEP) para evitar reconstruções analíticas sintéticas.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Estável (12/12) vs Transição (22/12)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dos Primeiros Casos: Atmosfera Estável e Caso de Transição em Auditoria</a:t>
            </a:r>
          </a:p>
        </p:txBody>
      </p:sp>
      <p:pic>
        <p:nvPicPr>
          <p:cNvPr id="7" name="Picture 6" descr="fig_3_soundings_complet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0977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ANÁLISE 1: Atmosfera Estável (12/12/1995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Camada seca em médios níveis e estratificação térmica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MetPy: SBCAPE = 15.7 J/kg; MUCAPE = 0.9 J/kg; PW = 35.1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16.9 J/kg; pseudo = 22.5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13.7 m/s (26.6 kt); SRH 0-3km LM = -52.2 m²/s².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ANÁLISE 2: Caso de Transição / Mod. Instável (22/12/1995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Coluna troposférica mais úmida e aquecida em relação ao caso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Auditada: SBCAPE = 836.0 J/kg; MUCAPE = 836.0 J/kg; SBCIN = -221.8 J/kg; PW = 43.9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-107.9 J/kg; pseudo = 503.2 J/kg; DCAPE máx = 195.5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2.8 m/s (5.5 kt); SRH 0-3km LM = -5.2 m²/s².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Nota de Classificação: Regime autêntico de transição: empuxo moderado (SBCAPE = 836 J/kg) com expressiva inibição convectiva (SBCIN = -221.8 J/kg) que impede convecção espontânea sem forçamento dinâmico.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Atmosfera Instável (24/12) &amp; Teste de Sensibilidade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Físico: Sondagem Completa Oficial vs Teste de Sensibilidade (Sem Níveis de 925 hPa)</a:t>
            </a:r>
          </a:p>
        </p:txBody>
      </p:sp>
      <p:pic>
        <p:nvPicPr>
          <p:cNvPr id="7" name="Picture 6" descr="fig_colab_severe_skew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08527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611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50" b="1">
                <a:solidFill>
                  <a:srgbClr val="F87171"/>
                </a:solidFill>
              </a:defRPr>
            </a:pPr>
            <a:r>
              <a:t>ANÁLISE 3: Atmosfera Instável (24/12/1995 12Z - Sondagem Completa)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Sondagem Completa (Oficial): SBCAPE = 1861.9 J/kg | MUCAPE = 7810.0 J/kg | MLCAPE = 3447.0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SBCIN = -186.3 J/kg | PW = 55.4 mm | LCL = 988.4 hPa.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Vento em 925 hPa: 44 kt (22.6 m/s) de 60°.</a:t>
            </a:r>
          </a:p>
          <a:p>
            <a:pPr>
              <a:spcBef>
                <a:spcPts val="500"/>
              </a:spcBef>
              <a:defRPr sz="1050" b="1">
                <a:solidFill>
                  <a:srgbClr val="38BDF8"/>
                </a:solidFill>
              </a:defRPr>
            </a:pPr>
            <a:r>
              <a:t>TESTE DE SENSIBILIDADE DO NÍVEL DE 925 hPa: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 sondagem oficial apresenta em 925 hPa: T = 30°C, Td = 25°C e vento de 44 kt.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Camadas com gradiente superadiabático: 925→910.5 hPa (Γ = 17.65 K/km) e 910.5→850 hPa (Γ = 17.88 K/km).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Teste de Sensibilidade (sem níveis próximos a 925 hPa): MUCAPE = 1860.1 J/kg | SBCAPE = 1860.1 J/kg | PW = 50.8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Ambas as soluções são apresentadas para discussão técnica com os previsores da Defesa Civil de SC.</a:t>
            </a:r>
          </a:p>
          <a:p>
            <a:pPr>
              <a:spcBef>
                <a:spcPts val="500"/>
              </a:spcBef>
              <a:defRPr sz="1050" b="1">
                <a:solidFill>
                  <a:srgbClr val="FBBF24"/>
                </a:solidFill>
              </a:defRPr>
            </a:pPr>
            <a:r>
              <a:t>MATRIZ COMPARATIVA DOS TRÊS CASOS (OFICIAL):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Estável (12/12): SBCAPE = 15.7 J/kg | Shear 0-6km = 13.7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Transição (22/12): SBCAPE = 836.0 J/kg | Shear 0-6km = 2.8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Instável (24/12): SBCAPE = 1861.9 J/kg | Shear 0-6km = 12.6 m/s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07 - 10 min  | 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Teoria de Emanuel (1994) &amp; Matrizes 2D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Tríplice: Anomalia de Temp. de Densidade (Tρ), Water Loading (-rl) e Flutuabilidade</a:t>
            </a:r>
          </a:p>
        </p:txBody>
      </p:sp>
      <p:pic>
        <p:nvPicPr>
          <p:cNvPr id="7" name="Picture 6" descr="fig_3_soundings_emanuel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1991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Fundamentação Teórica - Kerry Emanuel (1994):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Referência: Kerry Emanuel (1994), 'Atmospheric Convection', Oxford Univ. Press (Cap. 4 e 6).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Disciplina de referência: MIT OCW 12.811.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Algoritmo: rotinas wyoming.f / tcon.py calculando matrizes tdifrev (Tρ) e tdifpseudo (Tv).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Temperatura de Densidade (Tρ) &amp; Water Loading: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Tρ = T · (1 + rv/ε) / (1 + rv + rl) ≈ Tv · (1 - rl)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O peso dos hidrometeoros retidos na parcela (-rl) reduz a flutuabilidade real em relação ao cálculo pseudoadiabático.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Resultados Auditados nas Três Sondagens: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12/12 (Estável): Tρ negativo em quase toda a coluna. CAPE rev = 16.9 J/kg; pseudo = 22.5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22/12 (Transição): Camada de empuxo positiva moderada. CAPE rev = -107.9 J/kg; pseudo = 503.2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24/12 (Instável): Na superfície, CAPE rev = 402.0 J/kg vs pseudo = 1479.7 J/kg. No pico de 925 hPa, atinge 6247.2 J/kg (rev) e 7781.5 J/kg (pseudo).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Perfis Verticais de Mesoescala: θ, θe, θs, N, S e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dos Três Regimes Atmosféricos em Porto Alegre (SBPA - 83971) - Topo em 200 hPa</a:t>
            </a:r>
          </a:p>
        </p:txBody>
      </p:sp>
      <p:pic>
        <p:nvPicPr>
          <p:cNvPr id="7" name="Picture 6" descr="fig_3_soundings_profil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276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Temperatura Potencial Equivalente (θe):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Superfície: 12/12 = 319.3 K | 22/12 = 343.8 K | 24/12 = 377.8 K (em 925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Instabilidade Convectiva: Camada com ∂θe/∂z &lt; 0 bem estabelecida nos dias 22 e 24/12.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Frequência de Brunt-Väisälä (N²):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N² = (g / θv) · (∂θv / ∂z).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No caso de 24/12, camada com N² elevado próximo a 925 hPa denota forte estabilidade estática local.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Gera barreira à convecção livre a partir de parcelas superficiais.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Estabilidade Estática (S) e Razão de Mistura (r):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S(p) = - (T / θ) · (∂θ / ∂p).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Razão de mistura máxima em 24/12 atinge 22.0 g/kg em 925 hPa.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Água Precipitável Total (PW): 55.4 mm no dia 24/12 vs 35.1 mm no dia 12/12.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Diagnóstico Termodinâmico Vertical (Emanuel 1994, Cap.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Perfis de θ, θe, θs, Brunt-Väisälä N², Umidade e DCAPE para 24/12/1995 12Z</a:t>
            </a:r>
          </a:p>
        </p:txBody>
      </p:sp>
      <p:pic>
        <p:nvPicPr>
          <p:cNvPr id="7" name="Picture 6" descr="fig_cap2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253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Perfis Térmicos (θ, θe, θes):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 (Potencial): Cresce com a altura (estratificação estática estável para deslocamentos secos).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θe (Equivalente): Mínimo pronunciado em médios níveis (~600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instabilidade condicional na coluna troposférica.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Água Precipitável Total (PW):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PW calculado via MetPy: 55.4 mm (Sondagem completa) / 50.8 mm (Sensibilidade).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Conteúdo de umidade expressivo associado ao escoamento em baixos níveis.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elevado potencial de condensação na coluna vertical.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Downdraft CAPE (DCAPE) - Três Métodos para 24/12: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1. Wyoming (Página INDICES): 1149.0 J/kg.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2. MetPy (mpcalc.downdraft_cape): 1096.8 J/kg (coluna a partir do mín. θe).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3. Emanuel (cape.out, máx. sobre origens): 60.7 J/kg (origem em 905 hPa; 0.0 J/kg na SFC).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Três formulações físicas distintas e legítimas de empuxo negativo de correntes descendentes.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14 - 17 min  | 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Cinemática &amp; Dinâmica: Hodógrafo, JBN e Helicidade (SRH)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Curvatura do Vento na Baixa Troposfera, Cisalhamento Vertical e Vetor Bunkers no Hemisfério Sul</a:t>
            </a:r>
          </a:p>
        </p:txBody>
      </p:sp>
      <p:pic>
        <p:nvPicPr>
          <p:cNvPr id="7" name="Picture 6" descr="fig_kinematics_hod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756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Vento em Baixos Níveis (925 hPa):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Intensidade: 44 kt (22.6 m/s) de direção 60° (ENE).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Cria curvatura acentuada no hodógrafo na camada limite.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Fornece forte influxo de calor e vapor d'água.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Cisalhamento Vertical Profundo (Bulk Shear):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0-1 km: 19.7 m/s (38.4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0-3 km: 8.4 m/s (16.3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0-6 km: 12.6 m/s (24.5 kt) [Auditado via MetPy].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Dinâmica no Hemisfério Sul &amp; Bunkers Left-Mover: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Vetor Bunkers LM: (-4.4, -3.9) m/s [11.4 kt de 48°].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0-1 km (LM): -105.3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0-3 km (LM): -123.3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No Hemisfério Sul, a rotação ciclônica possui helicidade negativa associada ao Left-Mover.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17 - 19 min  | 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Monitoramento por Satélite: Resolução Espacial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Limitações da Grade de 1° (ISCCP) vs Necessidades de Mesoescala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🛰️ RESOLUÇÃO ESPACIAL EM SATÉLITE 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Limitação Física e Espacial de Grades Climatológicas:</a:t>
            </a:r>
            <a:br/>
            <a:br/>
            <a:r>
              <a:t>• A grade ISCCP-H de 1° (~110 km) promedia a temperatura de brilho sobre áreas muito superiores às células convectivas individuais.</a:t>
            </a:r>
            <a:br/>
            <a:r>
              <a:t>• Topos de nuvens com convecção profunda e temperaturas de brilho inferiores a -60 °C são diluídos quando integrados com áreas vizinhas sem nuvens, mascarando a severidade real do sistema.</a:t>
            </a:r>
            <a:br/>
            <a:br/>
            <a:r>
              <a:t>Critério de Validação Operacional:</a:t>
            </a:r>
            <a:br/>
            <a:r>
              <a:t>• Para monitoramento em mesoescala e defesa civil, produtos de resolução fina (como GOES em ~0,07° / ~8 km ou sensores modernos em 2 km) são indispensáveis para detectar núcleos ascendentes e overshooting tops.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Impacto da Resolução Espacial: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Grades de 1° (~110 km): realizam média espacial que suaviza extremos térmicos.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Diluição de topos: topos convectivos frios perdem contraste térmico.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Subestimação do topo: mascara convecção penetrativa e severidade.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Escalas Fenomenológicas: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Células convectivas: escala horizontal típica de 5 a 20 km.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Complexos Convectivos de Mesoescala (CCM): escala meso-alfa (&gt; 100 km), mas núcleos ativos concentrados.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Resolução necessária: produtos de alta resolução (≤ 8 km / 0,07°) para resolver núcleos.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Diretriz para a Defesa Civil de SC: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Não utilizar produtos de grade climatológica grosseira para diagnóstico de eventos severos.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Privilegiar canais infravermelho de alta taxa temporal e espacial para emissão de alertas precoces.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17 - 20 min  | 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Conclusão &amp; Tabela Resumo dos Parâmetros Auditados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Síntese Quantitativa Oficial Baseada em metricas.json e Referências Bibliográficas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0352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BBF24"/>
                </a:solidFill>
              </a:defRPr>
            </a:pPr>
            <a:r>
              <a:t>Tabela Resumo dos Diagnósticos Calculados (metricas.json):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SBCAPE (J/kg): </a:t>
            </a:r>
            <a:r>
              <a:rPr b="1">
                <a:solidFill>
                  <a:srgbClr val="F87171"/>
                </a:solidFill>
              </a:rPr>
              <a:t>12/12: 16 | 22/12: 836 | 24/12: 1862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MUCAPE (J/kg): </a:t>
            </a:r>
            <a:r>
              <a:rPr b="1">
                <a:solidFill>
                  <a:srgbClr val="F87171"/>
                </a:solidFill>
              </a:rPr>
              <a:t>12/12: 1 | 22/12: 836 | 24/12: 7810 (Sensibilidade: 1860)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SBCIN (J/kg): </a:t>
            </a:r>
            <a:r>
              <a:rPr b="1">
                <a:solidFill>
                  <a:srgbClr val="38BDF8"/>
                </a:solidFill>
              </a:rPr>
              <a:t>12/12: 0.0 | 22/12: -221.8 | 24/12: -186.3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Água Precipitável PW: </a:t>
            </a:r>
            <a:r>
              <a:rPr b="1">
                <a:solidFill>
                  <a:srgbClr val="38BDF8"/>
                </a:solidFill>
              </a:rPr>
              <a:t>12/12: 35.1 mm | 22/12: 43.9 mm | 24/12: 55.4 mm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Vento 925 hPa (kt): </a:t>
            </a:r>
            <a:r>
              <a:rPr b="1">
                <a:solidFill>
                  <a:srgbClr val="FBBF24"/>
                </a:solidFill>
              </a:rPr>
              <a:t>12/12: 9 kt | 22/12: 9 kt | 24/12: 44 kt (22.6 m/s)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Bulk Shear 0-6 km: </a:t>
            </a:r>
            <a:r>
              <a:rPr b="1">
                <a:solidFill>
                  <a:srgbClr val="34D399"/>
                </a:solidFill>
              </a:rPr>
              <a:t>12/12: 13.7 m/s | 22/12: 2.8 m/s | 24/12: 12.6 m/s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SRH 0-3 km LM (m²/s²): </a:t>
            </a:r>
            <a:r>
              <a:rPr b="1">
                <a:solidFill>
                  <a:srgbClr val="34D399"/>
                </a:solidFill>
              </a:rPr>
              <a:t>12/12: -52.2 | 22/12: -5.2 | 24/12: -123.3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Wyoming (J/kg): </a:t>
            </a:r>
            <a:r>
              <a:rPr b="1">
                <a:solidFill>
                  <a:srgbClr val="F8FAFC"/>
                </a:solidFill>
              </a:rPr>
              <a:t>12/12: 644 | 22/12: 1352 | 24/12: 1149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MetPy (J/kg): </a:t>
            </a:r>
            <a:r>
              <a:rPr b="1">
                <a:solidFill>
                  <a:srgbClr val="F8FAFC"/>
                </a:solidFill>
              </a:rPr>
              <a:t>12/12: 643 | 22/12: 1338 | 24/12: 1097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Emanuel Máx (J/kg): </a:t>
            </a:r>
            <a:r>
              <a:rPr b="1">
                <a:solidFill>
                  <a:srgbClr val="F8FAFC"/>
                </a:solidFill>
              </a:rPr>
              <a:t>12/12: 60.0 | 22/12: 195.5 | 24/12: 60.7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Resolução de Satélite: </a:t>
            </a:r>
            <a:r>
              <a:rPr b="1">
                <a:solidFill>
                  <a:srgbClr val="94A3B8"/>
                </a:solidFill>
              </a:rPr>
              <a:t>Grade de 1° ISCCP descartada por diluição espacial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5780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92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Referências Bibliográficas &amp; Metodológicas: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Emanuel, K. A. (1994). Atmospheric Convection. Oxford University Press, 580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MIT OpenCourseWare (Course 12.811). Atmospheric Convection. Massachusetts Institute of Technology.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Bunkers, M. J., et al. (2000). Predicting supercell motion using a new hodograph technique. Weather and Forecasting, 15(1), 61-79.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Markowski, P., &amp; Richardson, Y. (2010). Mesoscale Meteorology in Midlatitudes. Wiley-Blackwell.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MetPy Development Team (2024). MetPy: A Python Package for Meteorological Data.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Fechamento &amp; Agradecimentos: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Agradeço ao Professor Dr. Reinaldo Haas pela orientação acadêmica e aos previsores da Defesa Civil de SC pela atenção técnica dispensada.</a:t>
            </a:r>
            <a:br/>
            <a:br/>
            <a:r>
              <a:t>O código-fonte completo (wyoming.py, tcon.py, calc_metricas.py, plot_sat_ir.py, generate_figures.py e tutorial interativo) encontra-se disponível no repositório GitHub:</a:t>
            </a:r>
            <a:br/>
            <a:r>
              <a:t>https://github.com/reinaldohaas/tarefa-meso</a:t>
            </a:r>
            <a:br/>
            <a:br/>
            <a:r>
              <a:t>Estou à disposição para as perguntas e considerações técnicas dos previsores da Defesa Civil de SC.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